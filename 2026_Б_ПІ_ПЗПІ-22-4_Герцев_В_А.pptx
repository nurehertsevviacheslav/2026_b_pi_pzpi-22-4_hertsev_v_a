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5143500" cx="9144000"/>
  <p:notesSz cx="6858000" cy="9144000"/>
  <p:embeddedFontLst>
    <p:embeddedFont>
      <p:font typeface="Economica"/>
      <p:regular r:id="rId19"/>
      <p:bold r:id="rId20"/>
      <p:italic r:id="rId21"/>
      <p:boldItalic r:id="rId22"/>
    </p:embeddedFont>
    <p:embeddedFont>
      <p:font typeface="Open Sans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27" roundtripDataSignature="AMtx7mhi7zes1n98bI0oa5uaAYcUk7/Ak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AB87EE1-AA5C-4AD9-AB55-591B44C15F97}">
  <a:tblStyle styleId="{8AB87EE1-AA5C-4AD9-AB55-591B44C15F9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Economica-bold.fntdata"/><Relationship Id="rId22" Type="http://schemas.openxmlformats.org/officeDocument/2006/relationships/font" Target="fonts/Economica-boldItalic.fntdata"/><Relationship Id="rId21" Type="http://schemas.openxmlformats.org/officeDocument/2006/relationships/font" Target="fonts/Economica-italic.fntdata"/><Relationship Id="rId24" Type="http://schemas.openxmlformats.org/officeDocument/2006/relationships/font" Target="fonts/OpenSans-bold.fntdata"/><Relationship Id="rId23" Type="http://schemas.openxmlformats.org/officeDocument/2006/relationships/font" Target="fonts/OpenSans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OpenSans-boldItalic.fntdata"/><Relationship Id="rId25" Type="http://schemas.openxmlformats.org/officeDocument/2006/relationships/font" Target="fonts/OpenSans-italic.fntdata"/><Relationship Id="rId27" Type="http://customschemas.google.com/relationships/presentationmetadata" Target="meta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Economica-regular.fntdata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/>
          <p:nvPr/>
        </p:nvSpPr>
        <p:spPr>
          <a:xfrm>
            <a:off x="2744013" y="756700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1" name="Google Shape;11;p14"/>
          <p:cNvSpPr/>
          <p:nvPr/>
        </p:nvSpPr>
        <p:spPr>
          <a:xfrm rot="10800000">
            <a:off x="5318350" y="32667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2" name="Google Shape;12;p14"/>
          <p:cNvSpPr txBox="1"/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3" name="Google Shape;13;p14"/>
          <p:cNvSpPr txBox="1"/>
          <p:nvPr>
            <p:ph idx="1" type="subTitle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5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6"/>
          <p:cNvSpPr/>
          <p:nvPr/>
        </p:nvSpPr>
        <p:spPr>
          <a:xfrm flipH="1">
            <a:off x="7595938" y="4602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22" name="Google Shape;22;p16"/>
          <p:cNvSpPr/>
          <p:nvPr/>
        </p:nvSpPr>
        <p:spPr>
          <a:xfrm flipH="1" rot="10800000">
            <a:off x="466425" y="35583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23" name="Google Shape;23;p16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7" name="Google Shape;27;p17"/>
          <p:cNvSpPr txBox="1"/>
          <p:nvPr>
            <p:ph idx="1" type="body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17"/>
          <p:cNvSpPr txBox="1"/>
          <p:nvPr>
            <p:ph idx="2" type="body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8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32" name="Google Shape;3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5" name="Google Shape;35;p19"/>
          <p:cNvSpPr txBox="1"/>
          <p:nvPr>
            <p:ph idx="1" type="body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0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0"/>
          <p:cNvSpPr txBox="1"/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0" name="Google Shape;40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1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" name="Google Shape;43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21"/>
          <p:cNvSpPr txBox="1"/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5" name="Google Shape;45;p21"/>
          <p:cNvSpPr txBox="1"/>
          <p:nvPr>
            <p:ph idx="1" type="subTitle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46" name="Google Shape;46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2"/>
          <p:cNvSpPr txBox="1"/>
          <p:nvPr>
            <p:ph idx="1" type="body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/>
        </p:txBody>
      </p:sp>
      <p:sp>
        <p:nvSpPr>
          <p:cNvPr id="50" name="Google Shape;50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3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23"/>
          <p:cNvSpPr txBox="1"/>
          <p:nvPr>
            <p:ph hasCustomPrompt="1" type="title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23"/>
          <p:cNvSpPr txBox="1"/>
          <p:nvPr>
            <p:ph idx="1" type="body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5" name="Google Shape;55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lux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7" name="Google Shape;7;p13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"/>
          <p:cNvSpPr txBox="1"/>
          <p:nvPr>
            <p:ph type="ctrTitle"/>
          </p:nvPr>
        </p:nvSpPr>
        <p:spPr>
          <a:xfrm>
            <a:off x="2805449" y="821299"/>
            <a:ext cx="5944103" cy="908889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2400">
                <a:latin typeface="Times New Roman"/>
                <a:ea typeface="Times New Roman"/>
                <a:cs typeface="Times New Roman"/>
                <a:sym typeface="Times New Roman"/>
              </a:rPr>
              <a:t>2D Roguelike-платформер на рушії Unity.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2400">
                <a:latin typeface="Times New Roman"/>
                <a:ea typeface="Times New Roman"/>
                <a:cs typeface="Times New Roman"/>
                <a:sym typeface="Times New Roman"/>
              </a:rPr>
              <a:t>Дизайн та балансування ігрового процесу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3" name="Google Shape;63;p1"/>
          <p:cNvSpPr txBox="1"/>
          <p:nvPr>
            <p:ph idx="1" type="subTitle"/>
          </p:nvPr>
        </p:nvSpPr>
        <p:spPr>
          <a:xfrm>
            <a:off x="1743471" y="2486417"/>
            <a:ext cx="4881447" cy="265708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uk-UA" sz="2000"/>
              <a:t>Герцев В’ячеслав Андрійович, ПЗПІ-22-4</a:t>
            </a:r>
            <a:endParaRPr sz="20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 sz="20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uk-UA" sz="2000"/>
              <a:t>Керівник: ст. викл каф. ПІ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uk-UA" sz="2000"/>
              <a:t>           Саманцов Олександр Олександрович</a:t>
            </a:r>
            <a:endParaRPr sz="2000"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 sz="2000"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 sz="2000"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uk-UA" sz="2000"/>
              <a:t>2026</a:t>
            </a:r>
            <a:endParaRPr sz="2000"/>
          </a:p>
        </p:txBody>
      </p:sp>
      <p:pic>
        <p:nvPicPr>
          <p:cNvPr id="64" name="Google Shape;6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"/>
          <p:cNvSpPr txBox="1"/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>
                <a:latin typeface="Times New Roman"/>
                <a:ea typeface="Times New Roman"/>
                <a:cs typeface="Times New Roman"/>
                <a:sym typeface="Times New Roman"/>
              </a:rPr>
              <a:t>Мета роботи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2" name="Google Shape;72;p2"/>
          <p:cNvSpPr txBox="1"/>
          <p:nvPr>
            <p:ph idx="1" type="body"/>
          </p:nvPr>
        </p:nvSpPr>
        <p:spPr>
          <a:xfrm>
            <a:off x="311700" y="1129550"/>
            <a:ext cx="8520600" cy="31506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946"/>
              <a:buNone/>
            </a:pPr>
            <a:r>
              <a:rPr lang="uk-UA" sz="1600">
                <a:latin typeface="Times New Roman"/>
                <a:ea typeface="Times New Roman"/>
                <a:cs typeface="Times New Roman"/>
                <a:sym typeface="Times New Roman"/>
              </a:rPr>
              <a:t>Дослідження та практична реалізація процесу геймдизайну й балансування ігрового процесу для 2D roguelike-платформеру «Brick Prince» на рушії Unity — від концепції до працездатного прототипу.</a:t>
            </a:r>
            <a:endParaRPr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Times New Roman"/>
              <a:buChar char="-"/>
            </a:pPr>
            <a:r>
              <a:rPr lang="uk-UA" sz="1600">
                <a:latin typeface="Times New Roman"/>
                <a:ea typeface="Times New Roman"/>
                <a:cs typeface="Times New Roman"/>
                <a:sym typeface="Times New Roman"/>
              </a:rPr>
              <a:t>Гібридна механіка: платформер + керування магічними цеглинами у стилі тетроміно</a:t>
            </a:r>
            <a:endParaRPr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Times New Roman"/>
              <a:buChar char="-"/>
            </a:pPr>
            <a:r>
              <a:rPr lang="uk-UA" sz="1600">
                <a:latin typeface="Times New Roman"/>
                <a:ea typeface="Times New Roman"/>
                <a:cs typeface="Times New Roman"/>
                <a:sym typeface="Times New Roman"/>
              </a:rPr>
              <a:t>Roguelike-складова: процедурні рівні, вороги, висока реграбельність</a:t>
            </a:r>
            <a:endParaRPr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Times New Roman"/>
              <a:buChar char="-"/>
            </a:pPr>
            <a:r>
              <a:rPr lang="uk-UA" sz="1600">
                <a:latin typeface="Times New Roman"/>
                <a:ea typeface="Times New Roman"/>
                <a:cs typeface="Times New Roman"/>
                <a:sym typeface="Times New Roman"/>
              </a:rPr>
              <a:t>Гнучка, масштабована архітектура на основі Unity та C#</a:t>
            </a:r>
            <a:endParaRPr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uk-UA" sz="1600">
                <a:latin typeface="Times New Roman"/>
                <a:ea typeface="Times New Roman"/>
                <a:cs typeface="Times New Roman"/>
                <a:sym typeface="Times New Roman"/>
              </a:rPr>
              <a:t>Чому це актуально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Font typeface="Times New Roman"/>
              <a:buChar char="-"/>
            </a:pPr>
            <a:r>
              <a:rPr lang="uk-UA" sz="1600">
                <a:latin typeface="Times New Roman"/>
                <a:ea typeface="Times New Roman"/>
                <a:cs typeface="Times New Roman"/>
                <a:sym typeface="Times New Roman"/>
              </a:rPr>
              <a:t>Roguelike залишається одним з найпопулярніших жанрів завдяки реграбельності й динамічності</a:t>
            </a:r>
            <a:endParaRPr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Font typeface="Times New Roman"/>
              <a:buChar char="-"/>
            </a:pPr>
            <a:r>
              <a:rPr lang="uk-UA" sz="1600">
                <a:latin typeface="Times New Roman"/>
                <a:ea typeface="Times New Roman"/>
                <a:cs typeface="Times New Roman"/>
                <a:sym typeface="Times New Roman"/>
              </a:rPr>
              <a:t>Unity дозволяє малим командам швидко створювати якісний 2D-контент</a:t>
            </a:r>
            <a:endParaRPr sz="1600"/>
          </a:p>
        </p:txBody>
      </p:sp>
      <p:pic>
        <p:nvPicPr>
          <p:cNvPr id="73" name="Google Shape;7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2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-UA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"/>
          <p:cNvSpPr txBox="1"/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>
                <a:latin typeface="Times New Roman"/>
                <a:ea typeface="Times New Roman"/>
                <a:cs typeface="Times New Roman"/>
                <a:sym typeface="Times New Roman"/>
              </a:rPr>
              <a:t>Аналіз проблеми (аналіз існуючих рішень) 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0" name="Google Shape;80;p3"/>
          <p:cNvSpPr txBox="1"/>
          <p:nvPr>
            <p:ph idx="1" type="body"/>
          </p:nvPr>
        </p:nvSpPr>
        <p:spPr>
          <a:xfrm>
            <a:off x="1538238" y="3567452"/>
            <a:ext cx="5571300" cy="14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23"/>
              <a:buNone/>
            </a:pPr>
            <a:r>
              <a:rPr lang="uk-UA" sz="1200">
                <a:latin typeface="Times New Roman"/>
                <a:ea typeface="Times New Roman"/>
                <a:cs typeface="Times New Roman"/>
                <a:sym typeface="Times New Roman"/>
              </a:rPr>
              <a:t>Наш фокус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−"/>
            </a:pPr>
            <a:r>
              <a:rPr lang="uk-UA" sz="1200">
                <a:latin typeface="Times New Roman"/>
                <a:ea typeface="Times New Roman"/>
                <a:cs typeface="Times New Roman"/>
                <a:sym typeface="Times New Roman"/>
              </a:rPr>
              <a:t>Унікальна механіка фізичної маніпуляції цеглинами (відсутня у конкурентів)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−"/>
            </a:pPr>
            <a:r>
              <a:rPr lang="uk-UA" sz="1200">
                <a:latin typeface="Times New Roman"/>
                <a:ea typeface="Times New Roman"/>
                <a:cs typeface="Times New Roman"/>
                <a:sym typeface="Times New Roman"/>
              </a:rPr>
              <a:t>Баланс між бойовою системою та головоломками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−"/>
            </a:pPr>
            <a:r>
              <a:rPr lang="uk-UA" sz="1200">
                <a:latin typeface="Times New Roman"/>
                <a:ea typeface="Times New Roman"/>
                <a:cs typeface="Times New Roman"/>
                <a:sym typeface="Times New Roman"/>
              </a:rPr>
              <a:t>Підтримка коротких, середніх і довгих ігрових сесій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−"/>
            </a:pPr>
            <a:r>
              <a:rPr lang="uk-UA" sz="1200">
                <a:latin typeface="Times New Roman"/>
                <a:ea typeface="Times New Roman"/>
                <a:cs typeface="Times New Roman"/>
                <a:sym typeface="Times New Roman"/>
              </a:rPr>
              <a:t>Естетика dark fantasy середньовіччя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1" name="Google Shape;8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3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-UA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83" name="Google Shape;83;p3"/>
          <p:cNvGraphicFramePr/>
          <p:nvPr/>
        </p:nvGraphicFramePr>
        <p:xfrm>
          <a:off x="310599" y="778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{8AB87EE1-AA5C-4AD9-AB55-591B44C15F97}</a:tableStyleId>
              </a:tblPr>
              <a:tblGrid>
                <a:gridCol w="2675525"/>
                <a:gridCol w="2675525"/>
                <a:gridCol w="2675525"/>
              </a:tblGrid>
              <a:tr h="2841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Гра</a:t>
                      </a:r>
                      <a:endParaRPr b="1"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Переваги</a:t>
                      </a:r>
                      <a:endParaRPr b="1"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Обмеження</a:t>
                      </a:r>
                      <a:endParaRPr b="1"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30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Dead Cells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Продуманий бойовий геймплей, процедурні рівні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Немає фізичної механіки блоків; лише бій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30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Celeste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Точна платформерна механіка, емоційний наратив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Відсутня система ворогів і рандомізації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30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Spelunky 2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Класичний roguelike, складна фізика середовища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Висока хардкорність звужує аудиторію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30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The Binding of Isaac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Візуальна ідентичність, культовий статус жанру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Складний UI, не призначений для новачків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"/>
          <p:cNvSpPr txBox="1"/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>
                <a:latin typeface="Times New Roman"/>
                <a:ea typeface="Times New Roman"/>
                <a:cs typeface="Times New Roman"/>
                <a:sym typeface="Times New Roman"/>
              </a:rPr>
              <a:t>Постановка задачі та опис системи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9" name="Google Shape;89;p4"/>
          <p:cNvSpPr txBox="1"/>
          <p:nvPr>
            <p:ph idx="1" type="body"/>
          </p:nvPr>
        </p:nvSpPr>
        <p:spPr>
          <a:xfrm>
            <a:off x="311700" y="750200"/>
            <a:ext cx="8750700" cy="107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uk-UA" sz="1700">
                <a:latin typeface="Times New Roman"/>
                <a:ea typeface="Times New Roman"/>
                <a:cs typeface="Times New Roman"/>
                <a:sym typeface="Times New Roman"/>
              </a:rPr>
              <a:t>Проблема:  </a:t>
            </a:r>
            <a:r>
              <a:rPr lang="uk-UA" sz="1700">
                <a:latin typeface="Times New Roman"/>
                <a:ea typeface="Times New Roman"/>
                <a:cs typeface="Times New Roman"/>
                <a:sym typeface="Times New Roman"/>
              </a:rPr>
              <a:t>більшість мобільних і десктопних roguelike-платформерів або перевантажені UI, або обмежуються типовою механікою «біг + стрибок + удар», без оригінальних просторових механік.</a:t>
            </a:r>
            <a:endParaRPr sz="1700"/>
          </a:p>
        </p:txBody>
      </p:sp>
      <p:pic>
        <p:nvPicPr>
          <p:cNvPr id="90" name="Google Shape;9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4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-UA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4"/>
          <p:cNvSpPr txBox="1"/>
          <p:nvPr>
            <p:ph idx="1" type="body"/>
          </p:nvPr>
        </p:nvSpPr>
        <p:spPr>
          <a:xfrm>
            <a:off x="311700" y="1825400"/>
            <a:ext cx="8520600" cy="32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18"/>
              <a:buNone/>
            </a:pPr>
            <a:r>
              <a:rPr lang="uk-UA" sz="1700">
                <a:latin typeface="Times New Roman"/>
                <a:ea typeface="Times New Roman"/>
                <a:cs typeface="Times New Roman"/>
                <a:sym typeface="Times New Roman"/>
              </a:rPr>
              <a:t>Задача: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2018"/>
              </a:buClr>
              <a:buSzPts val="1700"/>
              <a:buFont typeface="Times New Roman"/>
              <a:buChar char="-"/>
            </a:pPr>
            <a:r>
              <a:rPr lang="uk-UA" sz="1700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Проаналізувати жанр roguelike-платформерів та ключові аналоги</a:t>
            </a:r>
            <a:endParaRPr sz="1700">
              <a:solidFill>
                <a:srgbClr val="2A2018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2018"/>
              </a:buClr>
              <a:buSzPts val="1700"/>
              <a:buFont typeface="Times New Roman"/>
              <a:buChar char="-"/>
            </a:pPr>
            <a:r>
              <a:rPr lang="uk-UA" sz="1700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Розробити документ ігрового дизайну (GDD)</a:t>
            </a:r>
            <a:endParaRPr sz="1700">
              <a:solidFill>
                <a:srgbClr val="2A2018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2018"/>
              </a:buClr>
              <a:buSzPts val="1700"/>
              <a:buFont typeface="Times New Roman"/>
              <a:buChar char="-"/>
            </a:pPr>
            <a:r>
              <a:rPr lang="uk-UA" sz="1700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Спроєктувати механіку магічних цеглин та її інтеграцію з іншими системами</a:t>
            </a:r>
            <a:endParaRPr sz="1700">
              <a:solidFill>
                <a:srgbClr val="2A2018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2018"/>
              </a:buClr>
              <a:buSzPts val="1700"/>
              <a:buFont typeface="Times New Roman"/>
              <a:buChar char="-"/>
            </a:pPr>
            <a:r>
              <a:rPr lang="uk-UA" sz="1700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Розробити систему ворогів з різними поведінковими патернами</a:t>
            </a:r>
            <a:endParaRPr sz="1700">
              <a:solidFill>
                <a:srgbClr val="2A2018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2018"/>
              </a:buClr>
              <a:buSzPts val="1700"/>
              <a:buFont typeface="Times New Roman"/>
              <a:buChar char="-"/>
            </a:pPr>
            <a:r>
              <a:rPr lang="uk-UA" sz="1700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Визначити принципи балансування складності</a:t>
            </a:r>
            <a:endParaRPr sz="1700">
              <a:solidFill>
                <a:srgbClr val="2A2018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2018"/>
              </a:buClr>
              <a:buSzPts val="1700"/>
              <a:buFont typeface="Times New Roman"/>
              <a:buChar char="-"/>
            </a:pPr>
            <a:r>
              <a:rPr lang="uk-UA" sz="1700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Спроєктувати архітектуру програмної системи</a:t>
            </a:r>
            <a:endParaRPr sz="1700">
              <a:solidFill>
                <a:srgbClr val="2A2018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2018"/>
              </a:buClr>
              <a:buSzPts val="1700"/>
              <a:buFont typeface="Times New Roman"/>
              <a:buChar char="-"/>
            </a:pPr>
            <a:r>
              <a:rPr lang="uk-UA" sz="1700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Реалізувати прототип на Unity та провести тестування балансу</a:t>
            </a:r>
            <a:endParaRPr sz="1700">
              <a:solidFill>
                <a:srgbClr val="2A2018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2118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5"/>
          <p:cNvSpPr txBox="1"/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>
                <a:latin typeface="Times New Roman"/>
                <a:ea typeface="Times New Roman"/>
                <a:cs typeface="Times New Roman"/>
                <a:sym typeface="Times New Roman"/>
              </a:rPr>
              <a:t>Вибір технологій розробки 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8" name="Google Shape;98;p5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Unity – р</a:t>
            </a: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ушій 2D/3D-розробки; Universal Render Pipeline забезпечує прийнятну продуктивність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C# – о</a:t>
            </a: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сновна мова програмування ігрової логіки, подієвої системи та фізики персонажа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Input System - нова система обробки вводу Unity для гнучкого керування рухом, стрибком і викликом цеглин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Cinemachine - динамічна камера, що слідкує за персонажем та підлаштовується під сцену рівня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14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99" name="Google Shape;9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5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-UA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6"/>
          <p:cNvSpPr txBox="1"/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>
                <a:latin typeface="Times New Roman"/>
                <a:ea typeface="Times New Roman"/>
                <a:cs typeface="Times New Roman"/>
                <a:sym typeface="Times New Roman"/>
              </a:rPr>
              <a:t>Архітектура створеного програмного забезпечення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6" name="Google Shape;106;p6"/>
          <p:cNvSpPr txBox="1"/>
          <p:nvPr>
            <p:ph idx="1" type="body"/>
          </p:nvPr>
        </p:nvSpPr>
        <p:spPr>
          <a:xfrm>
            <a:off x="311700" y="1453899"/>
            <a:ext cx="8520600" cy="315244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Підхід:  компонентна архітектура Unity (MonoBehaviour) у поєднанні з подієво-орієнтованим ядром Simulation/Event для розв'язання залежностей між підсистемами.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73380" lvl="0" marL="269999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Simulation / Event — Подієве ядро: планування та виконання ігрових подій (PlayerDeath, EnemyDeath тощо)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73380" lvl="0" marL="269999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KinematicObject — Базовий клас фізики руху для гравця та ворогів (кінематичний Rigidbody2D)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73380" lvl="0" marL="269999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PlayerController — Введення гравця, машина станів стрибка, керування персонажем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73380" lvl="0" marL="269999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BlockSpawner / FallingBlock / BlockPool — Унікальна система магічних цеглин: спавн, фізика падіння, зважений вибір типу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73380" lvl="0" marL="269999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EnemyController / PatrolPath — Поведінка та маршрути патрулювання ворогів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73380" lvl="0" marL="269999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MainMenuController / LevelSelectController — Навігація меню, вибір рівня, перемикання сцен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1200"/>
              </a:spcAft>
              <a:buSzPct val="129032"/>
              <a:buNone/>
            </a:pPr>
            <a:r>
              <a:t/>
            </a:r>
            <a:endParaRPr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107" name="Google Shape;10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6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-UA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7"/>
          <p:cNvSpPr txBox="1"/>
          <p:nvPr>
            <p:ph type="title"/>
          </p:nvPr>
        </p:nvSpPr>
        <p:spPr>
          <a:xfrm>
            <a:off x="311700" y="31240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>
                <a:latin typeface="Times New Roman"/>
                <a:ea typeface="Times New Roman"/>
                <a:cs typeface="Times New Roman"/>
                <a:sym typeface="Times New Roman"/>
              </a:rPr>
              <a:t>Опис програмного забезпечення, що було використано у дослідженні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" name="Google Shape;114;p7"/>
          <p:cNvSpPr txBox="1"/>
          <p:nvPr>
            <p:ph idx="1" type="body"/>
          </p:nvPr>
        </p:nvSpPr>
        <p:spPr>
          <a:xfrm>
            <a:off x="1494300" y="1069925"/>
            <a:ext cx="6155400" cy="384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42857"/>
              <a:buNone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Етапи розробки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183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AutoNum type="arabicPeriod"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Аналіз предметної галузі та жанрових аналогів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183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AutoNum type="arabicPeriod"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Формування вимог до геймплею та інтерфейсу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183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AutoNum type="arabicPeriod"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Проєктування архітектури (компонентна модель Unity)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183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AutoNum type="arabicPeriod"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Реалізація механік і логіки в середовищі Unity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183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AutoNum type="arabicPeriod"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Мануальне тестування та балансування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183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AutoNum type="arabicPeriod"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Підготовка білда та впровадження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42857"/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42857"/>
              <a:buNone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Використане програмне забезпечення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183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Unity 6000.2 (URP) — редактор та рушій гри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183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Visual Studio — середовище написання C#-коду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183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Unity Input System — обробка введення гравця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183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Git / GitHub — контроль версій проєкту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42857"/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42857"/>
              <a:buNone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Мови та формати даних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42857"/>
              <a:buNone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C# — основна мова реалізації ігрової логіки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42857"/>
              <a:buNone/>
            </a:pPr>
            <a:r>
              <a:rPr lang="uk-UA">
                <a:latin typeface="Times New Roman"/>
                <a:ea typeface="Times New Roman"/>
                <a:cs typeface="Times New Roman"/>
                <a:sym typeface="Times New Roman"/>
              </a:rPr>
              <a:t>ScriptableObject — конфігурація типів цеглин і рівнів через дані, без зміни коду</a:t>
            </a:r>
            <a:endParaRPr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115" name="Google Shape;11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7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-UA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8"/>
          <p:cNvSpPr txBox="1"/>
          <p:nvPr>
            <p:ph idx="1" type="body"/>
          </p:nvPr>
        </p:nvSpPr>
        <p:spPr>
          <a:xfrm>
            <a:off x="311700" y="978377"/>
            <a:ext cx="8520600" cy="338112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uk-UA"/>
              <a:t>Механіка цеглин як ядро геймплею: бій, будівництво платформ, головоломки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uk-UA"/>
              <a:t>Крива складності: ліс (навчальна) → підземелля → замок (фінальна)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uk-UA"/>
              <a:t>Баланс ризик/нагорода: складніші вороги дають більше монет та досвіду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uk-UA"/>
              <a:t>Підтримка коротких (5–15 хв), середніх (15–30 хв) і довгих (30+ хв) сесій</a:t>
            </a:r>
            <a:endParaRPr/>
          </a:p>
        </p:txBody>
      </p:sp>
      <p:sp>
        <p:nvSpPr>
          <p:cNvPr id="122" name="Google Shape;122;p8"/>
          <p:cNvSpPr txBox="1"/>
          <p:nvPr>
            <p:ph type="title"/>
          </p:nvPr>
        </p:nvSpPr>
        <p:spPr>
          <a:xfrm>
            <a:off x="311700" y="-9203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>
                <a:latin typeface="Times New Roman"/>
                <a:ea typeface="Times New Roman"/>
                <a:cs typeface="Times New Roman"/>
                <a:sym typeface="Times New Roman"/>
              </a:rPr>
              <a:t>Дизайн ігрового процесу та балансування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3" name="Google Shape;12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8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-UA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9"/>
          <p:cNvSpPr txBox="1"/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/>
              <a:t>Приклад реалізації</a:t>
            </a:r>
            <a:endParaRPr sz="3200"/>
          </a:p>
        </p:txBody>
      </p:sp>
      <p:pic>
        <p:nvPicPr>
          <p:cNvPr id="130" name="Google Shape;13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9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-UA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9"/>
          <p:cNvSpPr txBox="1"/>
          <p:nvPr/>
        </p:nvSpPr>
        <p:spPr>
          <a:xfrm>
            <a:off x="3563277" y="4481188"/>
            <a:ext cx="1931894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uk-UA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Головне меню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33" name="Google Shape;133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3663" y="830702"/>
            <a:ext cx="6096663" cy="34980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0"/>
          <p:cNvSpPr txBox="1"/>
          <p:nvPr/>
        </p:nvSpPr>
        <p:spPr>
          <a:xfrm>
            <a:off x="8570506" y="4606350"/>
            <a:ext cx="491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-UA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0"/>
          <p:cNvSpPr txBox="1"/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/>
              <a:t>Приклад реалізації</a:t>
            </a:r>
            <a:endParaRPr sz="3200"/>
          </a:p>
        </p:txBody>
      </p:sp>
      <p:sp>
        <p:nvSpPr>
          <p:cNvPr id="141" name="Google Shape;141;p10"/>
          <p:cNvSpPr txBox="1"/>
          <p:nvPr/>
        </p:nvSpPr>
        <p:spPr>
          <a:xfrm>
            <a:off x="3563274" y="4514025"/>
            <a:ext cx="2805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sz="2000">
                <a:latin typeface="Times New Roman"/>
                <a:ea typeface="Times New Roman"/>
                <a:cs typeface="Times New Roman"/>
                <a:sym typeface="Times New Roman"/>
              </a:rPr>
              <a:t>Проходження рівня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42" name="Google Shape;142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3575" y="830702"/>
            <a:ext cx="6096109" cy="35309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1"/>
          <p:cNvSpPr txBox="1"/>
          <p:nvPr/>
        </p:nvSpPr>
        <p:spPr>
          <a:xfrm>
            <a:off x="8587605" y="4606350"/>
            <a:ext cx="474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-UA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1"/>
          <p:cNvSpPr txBox="1"/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/>
              <a:t>Геймплейна частина</a:t>
            </a:r>
            <a:endParaRPr sz="3200"/>
          </a:p>
        </p:txBody>
      </p:sp>
      <p:pic>
        <p:nvPicPr>
          <p:cNvPr id="150" name="Google Shape;150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3575" y="824975"/>
            <a:ext cx="6663100" cy="3735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2"/>
          <p:cNvSpPr txBox="1"/>
          <p:nvPr>
            <p:ph idx="1" type="body"/>
          </p:nvPr>
        </p:nvSpPr>
        <p:spPr>
          <a:xfrm>
            <a:off x="225300" y="719100"/>
            <a:ext cx="7599000" cy="411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1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358"/>
              <a:buNone/>
            </a:pPr>
            <a:r>
              <a:rPr lang="uk-UA" sz="1800">
                <a:latin typeface="Times New Roman"/>
                <a:ea typeface="Times New Roman"/>
                <a:cs typeface="Times New Roman"/>
                <a:sym typeface="Times New Roman"/>
              </a:rPr>
              <a:t>Реалістичність та корисність результатів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2575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sz="1800">
                <a:latin typeface="Times New Roman"/>
                <a:ea typeface="Times New Roman"/>
                <a:cs typeface="Times New Roman"/>
                <a:sym typeface="Times New Roman"/>
              </a:rPr>
              <a:t>Отримано працездатний прототип гри з оригінальною механікою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2575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sz="1800">
                <a:latin typeface="Times New Roman"/>
                <a:ea typeface="Times New Roman"/>
                <a:cs typeface="Times New Roman"/>
                <a:sym typeface="Times New Roman"/>
              </a:rPr>
              <a:t>Підтверджено коректність ключових механік мануальним тестуванням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2575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sz="1800">
                <a:latin typeface="Times New Roman"/>
                <a:ea typeface="Times New Roman"/>
                <a:cs typeface="Times New Roman"/>
                <a:sym typeface="Times New Roman"/>
              </a:rPr>
              <a:t>Сформовано білд, придатний для запуску поза редактором (Windows Standalone)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1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358"/>
              <a:buNone/>
            </a:pPr>
            <a:r>
              <a:t/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1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358"/>
              <a:buNone/>
            </a:pPr>
            <a:r>
              <a:rPr lang="uk-UA" sz="1800">
                <a:latin typeface="Times New Roman"/>
                <a:ea typeface="Times New Roman"/>
                <a:cs typeface="Times New Roman"/>
                <a:sym typeface="Times New Roman"/>
              </a:rPr>
              <a:t>Можливості використання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1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358"/>
              <a:buNone/>
            </a:pPr>
            <a:r>
              <a:rPr lang="uk-UA" sz="1800">
                <a:latin typeface="Times New Roman"/>
                <a:ea typeface="Times New Roman"/>
                <a:cs typeface="Times New Roman"/>
                <a:sym typeface="Times New Roman"/>
              </a:rPr>
              <a:t>Архітектура та механіки можуть слугувати базою для інших 2D-ігор у жанрі roguelike / puzzle-action.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1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358"/>
              <a:buNone/>
            </a:pPr>
            <a:r>
              <a:t/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1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358"/>
              <a:buNone/>
            </a:pPr>
            <a:r>
              <a:rPr lang="uk-UA" sz="1800">
                <a:latin typeface="Times New Roman"/>
                <a:ea typeface="Times New Roman"/>
                <a:cs typeface="Times New Roman"/>
                <a:sym typeface="Times New Roman"/>
              </a:rPr>
              <a:t>Подальший розвиток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2575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sz="1800">
                <a:latin typeface="Times New Roman"/>
                <a:ea typeface="Times New Roman"/>
                <a:cs typeface="Times New Roman"/>
                <a:sym typeface="Times New Roman"/>
              </a:rPr>
              <a:t>Нові рівні, типи ворогів та механіки (боси, нова зброя)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2575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sz="1800">
                <a:latin typeface="Times New Roman"/>
                <a:ea typeface="Times New Roman"/>
                <a:cs typeface="Times New Roman"/>
                <a:sym typeface="Times New Roman"/>
              </a:rPr>
              <a:t>Хмарне збереження прогресу через OneDrive API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2575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sz="1800">
                <a:latin typeface="Times New Roman"/>
                <a:ea typeface="Times New Roman"/>
                <a:cs typeface="Times New Roman"/>
                <a:sym typeface="Times New Roman"/>
              </a:rPr>
              <a:t>9 типів ворогів з унікальними патернами поведінки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1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358"/>
              <a:buNone/>
            </a:pPr>
            <a:r>
              <a:t/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457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358"/>
              <a:buNone/>
            </a:pPr>
            <a:r>
              <a:rPr lang="uk-UA" sz="1800">
                <a:latin typeface="Times New Roman"/>
                <a:ea typeface="Times New Roman"/>
                <a:cs typeface="Times New Roman"/>
                <a:sym typeface="Times New Roman"/>
              </a:rPr>
              <a:t>Репозиторій проєкту: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1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358"/>
              <a:buNone/>
            </a:pPr>
            <a:r>
              <a:t/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457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358"/>
              <a:buNone/>
            </a:pPr>
            <a:r>
              <a:rPr lang="uk-UA" sz="1800">
                <a:latin typeface="Times New Roman"/>
                <a:ea typeface="Times New Roman"/>
                <a:cs typeface="Times New Roman"/>
                <a:sym typeface="Times New Roman"/>
              </a:rPr>
              <a:t>github.com/(посилання на репозиторій проєкту Brick Prince)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6" name="Google Shape;156;p12"/>
          <p:cNvSpPr txBox="1"/>
          <p:nvPr>
            <p:ph type="title"/>
          </p:nvPr>
        </p:nvSpPr>
        <p:spPr>
          <a:xfrm>
            <a:off x="311700" y="-35287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>
                <a:latin typeface="Times New Roman"/>
                <a:ea typeface="Times New Roman"/>
                <a:cs typeface="Times New Roman"/>
                <a:sym typeface="Times New Roman"/>
              </a:rPr>
              <a:t>Підсумки 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57" name="Google Shape;15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2"/>
          <p:cNvSpPr txBox="1"/>
          <p:nvPr/>
        </p:nvSpPr>
        <p:spPr>
          <a:xfrm>
            <a:off x="8621779" y="4606350"/>
            <a:ext cx="440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-UA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Шаблон презентації кваліфікаційної роботи магістрів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2025-06-19T11:30:12Z</dcterms:created>
  <dc:creator>В'ячеслав Герцев</dc:creator>
</cp:coreProperties>
</file>