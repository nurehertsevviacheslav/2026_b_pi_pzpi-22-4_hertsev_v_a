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embeddedFontLst>
    <p:embeddedFont>
      <p:font typeface="Economica" panose="020B0604020202020204" charset="0"/>
      <p:regular r:id="rId15"/>
      <p:bold r:id="rId16"/>
      <p:italic r:id="rId17"/>
      <p:boldItalic r:id="rId18"/>
    </p:embeddedFont>
    <p:embeddedFont>
      <p:font typeface="Open Sans" panose="020B0606030504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7" roundtripDataSignature="AMtx7mhi7zes1n98bI0oa5uaAYcUk7/Ak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ECE4FE-1029-4EE8-ACAF-2FA6E109E04A}" v="14" dt="2026-07-09T14:28:33.809"/>
  </p1510:revLst>
</p1510:revInfo>
</file>

<file path=ppt/tableStyles.xml><?xml version="1.0" encoding="utf-8"?>
<a:tblStyleLst xmlns:a="http://schemas.openxmlformats.org/drawingml/2006/main" def="{8AB87EE1-AA5C-4AD9-AB55-591B44C15F97}">
  <a:tblStyle styleId="{8AB87EE1-AA5C-4AD9-AB55-591B44C15F9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8" y="129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В'ячеслав Герцев" userId="25cf14d751791959" providerId="LiveId" clId="{E51DC668-10DB-45DA-B37A-8B5C11F6928A}"/>
    <pc:docChg chg="undo custSel modSld modMainMaster">
      <pc:chgData name="В'ячеслав Герцев" userId="25cf14d751791959" providerId="LiveId" clId="{E51DC668-10DB-45DA-B37A-8B5C11F6928A}" dt="2026-07-09T14:28:35.513" v="106" actId="20577"/>
      <pc:docMkLst>
        <pc:docMk/>
      </pc:docMkLst>
      <pc:sldChg chg="modSp mod">
        <pc:chgData name="В'ячеслав Герцев" userId="25cf14d751791959" providerId="LiveId" clId="{E51DC668-10DB-45DA-B37A-8B5C11F6928A}" dt="2026-07-09T14:05:21.604" v="69" actId="14100"/>
        <pc:sldMkLst>
          <pc:docMk/>
          <pc:sldMk cId="0" sldId="256"/>
        </pc:sldMkLst>
        <pc:spChg chg="mod">
          <ac:chgData name="В'ячеслав Герцев" userId="25cf14d751791959" providerId="LiveId" clId="{E51DC668-10DB-45DA-B37A-8B5C11F6928A}" dt="2026-07-09T12:28:37.208" v="67" actId="14100"/>
          <ac:spMkLst>
            <pc:docMk/>
            <pc:sldMk cId="0" sldId="256"/>
            <ac:spMk id="62" creationId="{00000000-0000-0000-0000-000000000000}"/>
          </ac:spMkLst>
        </pc:spChg>
        <pc:spChg chg="mod">
          <ac:chgData name="В'ячеслав Герцев" userId="25cf14d751791959" providerId="LiveId" clId="{E51DC668-10DB-45DA-B37A-8B5C11F6928A}" dt="2026-07-09T14:05:21.604" v="69" actId="14100"/>
          <ac:spMkLst>
            <pc:docMk/>
            <pc:sldMk cId="0" sldId="256"/>
            <ac:spMk id="63" creationId="{00000000-0000-0000-0000-000000000000}"/>
          </ac:spMkLst>
        </pc:spChg>
      </pc:sldChg>
      <pc:sldChg chg="modSp mod">
        <pc:chgData name="В'ячеслав Герцев" userId="25cf14d751791959" providerId="LiveId" clId="{E51DC668-10DB-45DA-B37A-8B5C11F6928A}" dt="2026-07-09T14:21:38.381" v="83" actId="20577"/>
        <pc:sldMkLst>
          <pc:docMk/>
          <pc:sldMk cId="0" sldId="257"/>
        </pc:sldMkLst>
        <pc:spChg chg="mod">
          <ac:chgData name="В'ячеслав Герцев" userId="25cf14d751791959" providerId="LiveId" clId="{E51DC668-10DB-45DA-B37A-8B5C11F6928A}" dt="2026-07-09T14:21:38.381" v="83" actId="20577"/>
          <ac:spMkLst>
            <pc:docMk/>
            <pc:sldMk cId="0" sldId="257"/>
            <ac:spMk id="72" creationId="{00000000-0000-0000-0000-000000000000}"/>
          </ac:spMkLst>
        </pc:spChg>
      </pc:sldChg>
      <pc:sldChg chg="modSp mod">
        <pc:chgData name="В'ячеслав Герцев" userId="25cf14d751791959" providerId="LiveId" clId="{E51DC668-10DB-45DA-B37A-8B5C11F6928A}" dt="2026-07-09T11:38:01.856" v="60" actId="1076"/>
        <pc:sldMkLst>
          <pc:docMk/>
          <pc:sldMk cId="0" sldId="258"/>
        </pc:sldMkLst>
        <pc:spChg chg="mod">
          <ac:chgData name="В'ячеслав Герцев" userId="25cf14d751791959" providerId="LiveId" clId="{E51DC668-10DB-45DA-B37A-8B5C11F6928A}" dt="2026-07-09T11:38:01.856" v="60" actId="1076"/>
          <ac:spMkLst>
            <pc:docMk/>
            <pc:sldMk cId="0" sldId="258"/>
            <ac:spMk id="80" creationId="{00000000-0000-0000-0000-000000000000}"/>
          </ac:spMkLst>
        </pc:spChg>
      </pc:sldChg>
      <pc:sldChg chg="modSp mod">
        <pc:chgData name="В'ячеслав Герцев" userId="25cf14d751791959" providerId="LiveId" clId="{E51DC668-10DB-45DA-B37A-8B5C11F6928A}" dt="2026-07-09T14:21:56.789" v="85" actId="20577"/>
        <pc:sldMkLst>
          <pc:docMk/>
          <pc:sldMk cId="0" sldId="259"/>
        </pc:sldMkLst>
        <pc:spChg chg="mod">
          <ac:chgData name="В'ячеслав Герцев" userId="25cf14d751791959" providerId="LiveId" clId="{E51DC668-10DB-45DA-B37A-8B5C11F6928A}" dt="2026-07-09T14:21:56.789" v="85" actId="20577"/>
          <ac:spMkLst>
            <pc:docMk/>
            <pc:sldMk cId="0" sldId="259"/>
            <ac:spMk id="89" creationId="{00000000-0000-0000-0000-000000000000}"/>
          </ac:spMkLst>
        </pc:spChg>
        <pc:spChg chg="mod">
          <ac:chgData name="В'ячеслав Герцев" userId="25cf14d751791959" providerId="LiveId" clId="{E51DC668-10DB-45DA-B37A-8B5C11F6928A}" dt="2026-07-09T14:21:52.128" v="84" actId="20577"/>
          <ac:spMkLst>
            <pc:docMk/>
            <pc:sldMk cId="0" sldId="259"/>
            <ac:spMk id="92" creationId="{00000000-0000-0000-0000-000000000000}"/>
          </ac:spMkLst>
        </pc:spChg>
      </pc:sldChg>
      <pc:sldChg chg="modSp mod">
        <pc:chgData name="В'ячеслав Герцев" userId="25cf14d751791959" providerId="LiveId" clId="{E51DC668-10DB-45DA-B37A-8B5C11F6928A}" dt="2026-07-03T18:41:01.316" v="12" actId="20577"/>
        <pc:sldMkLst>
          <pc:docMk/>
          <pc:sldMk cId="0" sldId="260"/>
        </pc:sldMkLst>
        <pc:spChg chg="mod">
          <ac:chgData name="В'ячеслав Герцев" userId="25cf14d751791959" providerId="LiveId" clId="{E51DC668-10DB-45DA-B37A-8B5C11F6928A}" dt="2026-07-03T18:41:01.316" v="12" actId="20577"/>
          <ac:spMkLst>
            <pc:docMk/>
            <pc:sldMk cId="0" sldId="260"/>
            <ac:spMk id="98" creationId="{00000000-0000-0000-0000-000000000000}"/>
          </ac:spMkLst>
        </pc:spChg>
      </pc:sldChg>
      <pc:sldChg chg="modSp mod">
        <pc:chgData name="В'ячеслав Герцев" userId="25cf14d751791959" providerId="LiveId" clId="{E51DC668-10DB-45DA-B37A-8B5C11F6928A}" dt="2026-07-03T17:30:59.757" v="5" actId="27636"/>
        <pc:sldMkLst>
          <pc:docMk/>
          <pc:sldMk cId="0" sldId="261"/>
        </pc:sldMkLst>
        <pc:spChg chg="mod">
          <ac:chgData name="В'ячеслав Герцев" userId="25cf14d751791959" providerId="LiveId" clId="{E51DC668-10DB-45DA-B37A-8B5C11F6928A}" dt="2026-07-03T17:30:59.757" v="5" actId="27636"/>
          <ac:spMkLst>
            <pc:docMk/>
            <pc:sldMk cId="0" sldId="261"/>
            <ac:spMk id="106" creationId="{00000000-0000-0000-0000-000000000000}"/>
          </ac:spMkLst>
        </pc:spChg>
      </pc:sldChg>
      <pc:sldChg chg="modSp mod">
        <pc:chgData name="В'ячеслав Герцев" userId="25cf14d751791959" providerId="LiveId" clId="{E51DC668-10DB-45DA-B37A-8B5C11F6928A}" dt="2026-07-09T14:28:35.513" v="106" actId="20577"/>
        <pc:sldMkLst>
          <pc:docMk/>
          <pc:sldMk cId="0" sldId="262"/>
        </pc:sldMkLst>
        <pc:spChg chg="mod">
          <ac:chgData name="В'ячеслав Герцев" userId="25cf14d751791959" providerId="LiveId" clId="{E51DC668-10DB-45DA-B37A-8B5C11F6928A}" dt="2026-07-09T14:28:33.809" v="104"/>
          <ac:spMkLst>
            <pc:docMk/>
            <pc:sldMk cId="0" sldId="262"/>
            <ac:spMk id="113" creationId="{00000000-0000-0000-0000-000000000000}"/>
          </ac:spMkLst>
        </pc:spChg>
        <pc:spChg chg="mod">
          <ac:chgData name="В'ячеслав Герцев" userId="25cf14d751791959" providerId="LiveId" clId="{E51DC668-10DB-45DA-B37A-8B5C11F6928A}" dt="2026-07-09T14:28:35.513" v="106" actId="20577"/>
          <ac:spMkLst>
            <pc:docMk/>
            <pc:sldMk cId="0" sldId="262"/>
            <ac:spMk id="114" creationId="{00000000-0000-0000-0000-000000000000}"/>
          </ac:spMkLst>
        </pc:spChg>
      </pc:sldChg>
      <pc:sldChg chg="modSp mod">
        <pc:chgData name="В'ячеслав Герцев" userId="25cf14d751791959" providerId="LiveId" clId="{E51DC668-10DB-45DA-B37A-8B5C11F6928A}" dt="2026-07-03T18:46:25.406" v="21" actId="20577"/>
        <pc:sldMkLst>
          <pc:docMk/>
          <pc:sldMk cId="0" sldId="263"/>
        </pc:sldMkLst>
        <pc:spChg chg="mod">
          <ac:chgData name="В'ячеслав Герцев" userId="25cf14d751791959" providerId="LiveId" clId="{E51DC668-10DB-45DA-B37A-8B5C11F6928A}" dt="2026-07-03T18:46:25.406" v="21" actId="20577"/>
          <ac:spMkLst>
            <pc:docMk/>
            <pc:sldMk cId="0" sldId="263"/>
            <ac:spMk id="121" creationId="{00000000-0000-0000-0000-000000000000}"/>
          </ac:spMkLst>
        </pc:spChg>
      </pc:sldChg>
      <pc:sldChg chg="modSp mod">
        <pc:chgData name="В'ячеслав Герцев" userId="25cf14d751791959" providerId="LiveId" clId="{E51DC668-10DB-45DA-B37A-8B5C11F6928A}" dt="2026-07-09T14:22:28.854" v="103" actId="20577"/>
        <pc:sldMkLst>
          <pc:docMk/>
          <pc:sldMk cId="0" sldId="267"/>
        </pc:sldMkLst>
        <pc:spChg chg="mod">
          <ac:chgData name="В'ячеслав Герцев" userId="25cf14d751791959" providerId="LiveId" clId="{E51DC668-10DB-45DA-B37A-8B5C11F6928A}" dt="2026-07-09T14:22:28.854" v="103" actId="20577"/>
          <ac:spMkLst>
            <pc:docMk/>
            <pc:sldMk cId="0" sldId="267"/>
            <ac:spMk id="155" creationId="{00000000-0000-0000-0000-000000000000}"/>
          </ac:spMkLst>
        </pc:spChg>
      </pc:sldChg>
      <pc:sldMasterChg chg="addSp modSp mod modSldLayout">
        <pc:chgData name="В'ячеслав Герцев" userId="25cf14d751791959" providerId="LiveId" clId="{E51DC668-10DB-45DA-B37A-8B5C11F6928A}" dt="2026-07-04T19:48:50.868" v="44" actId="1582"/>
        <pc:sldMasterMkLst>
          <pc:docMk/>
          <pc:sldMasterMk cId="0" sldId="2147483648"/>
        </pc:sldMasterMkLst>
        <pc:spChg chg="add mod ord">
          <ac:chgData name="В'ячеслав Герцев" userId="25cf14d751791959" providerId="LiveId" clId="{E51DC668-10DB-45DA-B37A-8B5C11F6928A}" dt="2026-07-04T19:48:50.868" v="44" actId="1582"/>
          <ac:spMkLst>
            <pc:docMk/>
            <pc:sldMasterMk cId="0" sldId="2147483648"/>
            <ac:spMk id="2" creationId="{9B0D64F9-4C49-702B-3E33-D62DD13F4ADD}"/>
          </ac:spMkLst>
        </pc:spChg>
        <pc:sldLayoutChg chg="setBg">
          <pc:chgData name="В'ячеслав Герцев" userId="25cf14d751791959" providerId="LiveId" clId="{E51DC668-10DB-45DA-B37A-8B5C11F6928A}" dt="2026-07-04T19:48:21.015" v="40"/>
          <pc:sldLayoutMkLst>
            <pc:docMk/>
            <pc:sldMasterMk cId="0" sldId="2147483648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" name="Google Shape;6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" name="Google Shape;103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6" name="Google Shape;13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/>
          <a:lstStyle/>
          <a:p>
            <a:endParaRPr lang="uk-UA"/>
          </a:p>
        </p:txBody>
      </p:sp>
      <p:sp>
        <p:nvSpPr>
          <p:cNvPr id="11" name="Google Shape;11;p14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/>
          <a:lstStyle/>
          <a:p>
            <a:endParaRPr lang="uk-UA"/>
          </a:p>
        </p:txBody>
      </p:sp>
      <p:sp>
        <p:nvSpPr>
          <p:cNvPr id="12" name="Google Shape;12;p14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14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6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</p:sp>
      <p:sp>
        <p:nvSpPr>
          <p:cNvPr id="22" name="Google Shape;22;p16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"/>
            <a:headEnd type="none" w="sm" len="sm"/>
            <a:tailEnd type="none" w="sm" len="sm"/>
          </a:ln>
        </p:spPr>
      </p:sp>
      <p:sp>
        <p:nvSpPr>
          <p:cNvPr id="23" name="Google Shape;23;p16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0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1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1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3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3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23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 dirty="0"/>
          </a:p>
        </p:txBody>
      </p:sp>
      <p:sp>
        <p:nvSpPr>
          <p:cNvPr id="7" name="Google Shape;7;p1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B0D64F9-4C49-702B-3E33-D62DD13F4ADD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uk-UA"/>
          </a:p>
        </p:txBody>
      </p:sp>
      <p:sp>
        <p:nvSpPr>
          <p:cNvPr id="8" name="Google Shape;8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"/>
          <p:cNvSpPr txBox="1">
            <a:spLocks noGrp="1"/>
          </p:cNvSpPr>
          <p:nvPr>
            <p:ph type="ctrTitle"/>
          </p:nvPr>
        </p:nvSpPr>
        <p:spPr>
          <a:xfrm>
            <a:off x="2805449" y="821299"/>
            <a:ext cx="5944103" cy="110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Ігрове</a:t>
            </a: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програмне</a:t>
            </a: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забезпечення</a:t>
            </a: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 в </a:t>
            </a: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жанрі</a:t>
            </a: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 2D платформеру на </a:t>
            </a: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рушії</a:t>
            </a: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. Дизайн та </a:t>
            </a: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балансування</a:t>
            </a: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ігрового</a:t>
            </a:r>
            <a:r>
              <a:rPr lang="ru-RU" sz="2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ru-RU" sz="2400" dirty="0" err="1">
                <a:latin typeface="Times New Roman"/>
                <a:ea typeface="Times New Roman"/>
                <a:cs typeface="Times New Roman"/>
                <a:sym typeface="Times New Roman"/>
              </a:rPr>
              <a:t>процесу</a:t>
            </a:r>
            <a:endParaRPr sz="24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3" name="Google Shape;63;p1"/>
          <p:cNvSpPr txBox="1">
            <a:spLocks noGrp="1"/>
          </p:cNvSpPr>
          <p:nvPr>
            <p:ph type="subTitle" idx="1"/>
          </p:nvPr>
        </p:nvSpPr>
        <p:spPr>
          <a:xfrm>
            <a:off x="1743471" y="2486417"/>
            <a:ext cx="4899376" cy="26570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Герцев В’ячеслав Андрійович, ПЗПІ-22-4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endParaRPr sz="20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uk-UA" sz="2000" dirty="0"/>
              <a:t>Керівник: ст. викл каф. ПІ 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uk-UA" sz="2000" dirty="0"/>
              <a:t>           </a:t>
            </a:r>
            <a:r>
              <a:rPr lang="uk-UA" sz="2000" dirty="0" err="1"/>
              <a:t>Саманцов</a:t>
            </a:r>
            <a:r>
              <a:rPr lang="uk-UA" sz="2000" dirty="0"/>
              <a:t> Олександр Олександрович</a:t>
            </a:r>
            <a:endParaRPr sz="2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endParaRPr sz="2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uk-UA" sz="2000" dirty="0"/>
              <a:t>2026</a:t>
            </a:r>
            <a:endParaRPr sz="2000" dirty="0"/>
          </a:p>
        </p:txBody>
      </p:sp>
      <p:pic>
        <p:nvPicPr>
          <p:cNvPr id="64" name="Google Shape;6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Мета роботи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2" name="Google Shape;72;p2"/>
          <p:cNvSpPr txBox="1">
            <a:spLocks noGrp="1"/>
          </p:cNvSpPr>
          <p:nvPr>
            <p:ph type="body" idx="1"/>
          </p:nvPr>
        </p:nvSpPr>
        <p:spPr>
          <a:xfrm>
            <a:off x="311700" y="996450"/>
            <a:ext cx="8520600" cy="31506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946"/>
              <a:buNone/>
            </a:pP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Дослідження та практична реалізація процесу 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геймдизайну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й балансування ігрового процесу для 2D 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платформеру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«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Brick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Prince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» на рушії 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— від концепції до працездатного прототипу.</a:t>
            </a:r>
            <a:endParaRPr sz="1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Гібридна механіка: 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платформер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+ керування магічними цеглинами у стилі 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тетроміно</a:t>
            </a:r>
            <a:endParaRPr sz="1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Гнучка, масштабована архітектура на основі 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та C#</a:t>
            </a:r>
            <a:endParaRPr sz="1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-UA" sz="1600" b="1" dirty="0">
                <a:latin typeface="Times New Roman"/>
                <a:ea typeface="Times New Roman"/>
                <a:cs typeface="Times New Roman"/>
                <a:sym typeface="Times New Roman"/>
              </a:rPr>
              <a:t>Чому це актуально</a:t>
            </a:r>
            <a:endParaRPr sz="1600" b="1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0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Платформер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залишається одним з найпопулярніших жанрів завдяки </a:t>
            </a: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реграбельності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й динамічності</a:t>
            </a:r>
            <a:endParaRPr sz="16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0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Font typeface="Times New Roman"/>
              <a:buChar char="-"/>
            </a:pPr>
            <a:r>
              <a:rPr lang="uk-UA" sz="1600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uk-UA" sz="1600" dirty="0">
                <a:latin typeface="Times New Roman"/>
                <a:ea typeface="Times New Roman"/>
                <a:cs typeface="Times New Roman"/>
                <a:sym typeface="Times New Roman"/>
              </a:rPr>
              <a:t> дозволяє малим командам швидко створювати якісний 2D-контент</a:t>
            </a:r>
            <a:endParaRPr sz="1600" dirty="0"/>
          </a:p>
        </p:txBody>
      </p:sp>
      <p:pic>
        <p:nvPicPr>
          <p:cNvPr id="73" name="Google Shape;7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2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Аналіз проблеми (аналіз існуючих рішень)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0" name="Google Shape;80;p3"/>
          <p:cNvSpPr txBox="1">
            <a:spLocks noGrp="1"/>
          </p:cNvSpPr>
          <p:nvPr>
            <p:ph type="body" idx="1"/>
          </p:nvPr>
        </p:nvSpPr>
        <p:spPr>
          <a:xfrm>
            <a:off x="1538238" y="3567452"/>
            <a:ext cx="5571300" cy="142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323"/>
              <a:buNone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Наш фокус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−"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Унікальна механіка фізичної маніпуляції цеглинами (відсутня у конкурентів)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−"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Баланс між бойовою системою та головоломками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−"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Підтримка коротких, середніх і довгих ігрових сесій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−"/>
            </a:pPr>
            <a:r>
              <a:rPr lang="uk-UA" sz="1200">
                <a:latin typeface="Times New Roman"/>
                <a:ea typeface="Times New Roman"/>
                <a:cs typeface="Times New Roman"/>
                <a:sym typeface="Times New Roman"/>
              </a:rPr>
              <a:t>Естетика dark fantasy середньовіччя</a:t>
            </a:r>
            <a:endParaRPr sz="1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81" name="Google Shape;8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3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3" name="Google Shape;83;p3"/>
          <p:cNvGraphicFramePr/>
          <p:nvPr/>
        </p:nvGraphicFramePr>
        <p:xfrm>
          <a:off x="310599" y="778863"/>
          <a:ext cx="8026575" cy="2722603"/>
        </p:xfrm>
        <a:graphic>
          <a:graphicData uri="http://schemas.openxmlformats.org/drawingml/2006/table">
            <a:tbl>
              <a:tblPr>
                <a:noFill/>
                <a:tableStyleId>{8AB87EE1-AA5C-4AD9-AB55-591B44C15F97}</a:tableStyleId>
              </a:tblPr>
              <a:tblGrid>
                <a:gridCol w="2675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75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75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4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 b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Гра</a:t>
                      </a:r>
                      <a:endParaRPr sz="1200"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 b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Переваги</a:t>
                      </a:r>
                      <a:endParaRPr sz="1200"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 b="1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Обмеження</a:t>
                      </a:r>
                      <a:endParaRPr sz="1200" b="1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Dead Cells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Продуманий бойовий геймплей, процедурні рівні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Немає фізичної механіки блоків; лише бій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Celeste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Точна платформерна механіка, емоційний наратив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Відсутня система ворогів і рандомізації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Spelunky 2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Класичний roguelike, складна фізика середовища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Висока хардкорність звужує аудиторію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0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The Binding of Isaac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Візуальна ідентичність, культовий статус жанру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uk-UA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Складний UI, не призначений для новачків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Постановка задачі та опис системи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9" name="Google Shape;89;p4"/>
          <p:cNvSpPr txBox="1">
            <a:spLocks noGrp="1"/>
          </p:cNvSpPr>
          <p:nvPr>
            <p:ph type="body" idx="1"/>
          </p:nvPr>
        </p:nvSpPr>
        <p:spPr>
          <a:xfrm>
            <a:off x="311700" y="750200"/>
            <a:ext cx="8750700" cy="10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uk-UA" sz="1700" b="1" dirty="0">
                <a:latin typeface="Times New Roman"/>
                <a:ea typeface="Times New Roman"/>
                <a:cs typeface="Times New Roman"/>
                <a:sym typeface="Times New Roman"/>
              </a:rPr>
              <a:t>Проблема:  </a:t>
            </a:r>
            <a:r>
              <a:rPr lang="uk-UA" sz="1700" dirty="0">
                <a:latin typeface="Times New Roman"/>
                <a:ea typeface="Times New Roman"/>
                <a:cs typeface="Times New Roman"/>
                <a:sym typeface="Times New Roman"/>
              </a:rPr>
              <a:t>більшість мобільних і </a:t>
            </a:r>
            <a:r>
              <a:rPr lang="uk-UA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десктопних</a:t>
            </a:r>
            <a:r>
              <a:rPr lang="uk-UA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uk-UA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платформерів</a:t>
            </a:r>
            <a:r>
              <a:rPr lang="uk-UA" sz="1700" dirty="0">
                <a:latin typeface="Times New Roman"/>
                <a:ea typeface="Times New Roman"/>
                <a:cs typeface="Times New Roman"/>
                <a:sym typeface="Times New Roman"/>
              </a:rPr>
              <a:t> або перевантажені UI, або обмежуються типовою </a:t>
            </a:r>
            <a:r>
              <a:rPr lang="uk-UA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механікою</a:t>
            </a:r>
            <a:r>
              <a:rPr lang="uk-UA" sz="1700" dirty="0">
                <a:latin typeface="Times New Roman"/>
                <a:ea typeface="Times New Roman"/>
                <a:cs typeface="Times New Roman"/>
                <a:sym typeface="Times New Roman"/>
              </a:rPr>
              <a:t> «біг + стрибок + удар», без оригінальних просторових механік.</a:t>
            </a:r>
            <a:endParaRPr sz="1700" dirty="0"/>
          </a:p>
        </p:txBody>
      </p:sp>
      <p:pic>
        <p:nvPicPr>
          <p:cNvPr id="90" name="Google Shape;90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4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4"/>
          <p:cNvSpPr txBox="1">
            <a:spLocks noGrp="1"/>
          </p:cNvSpPr>
          <p:nvPr>
            <p:ph type="body" idx="1"/>
          </p:nvPr>
        </p:nvSpPr>
        <p:spPr>
          <a:xfrm>
            <a:off x="311700" y="1825400"/>
            <a:ext cx="8520600" cy="320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18"/>
              <a:buNone/>
            </a:pPr>
            <a:r>
              <a:rPr lang="uk-UA" sz="1700" dirty="0">
                <a:latin typeface="Times New Roman"/>
                <a:ea typeface="Times New Roman"/>
                <a:cs typeface="Times New Roman"/>
                <a:sym typeface="Times New Roman"/>
              </a:rPr>
              <a:t>Задача:</a:t>
            </a:r>
            <a:endParaRPr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Проаналізувати жанр </a:t>
            </a:r>
            <a:r>
              <a:rPr lang="uk-UA" sz="1700" dirty="0" err="1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платформерів</a:t>
            </a: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та ключові аналоги</a:t>
            </a:r>
            <a:endParaRPr sz="1700" dirty="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Розробити документ ігрового дизайну (GDD)</a:t>
            </a:r>
            <a:endParaRPr sz="1700" dirty="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Спроєктувати механіку магічних цеглин та її інтеграцію з іншими системами</a:t>
            </a:r>
            <a:endParaRPr sz="1700" dirty="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Розробити систему ворогів з різними поведінковими </a:t>
            </a:r>
            <a:r>
              <a:rPr lang="uk-UA" sz="1700" dirty="0" err="1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патернами</a:t>
            </a:r>
            <a:endParaRPr sz="1700" dirty="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Визначити принципи балансування складності</a:t>
            </a:r>
            <a:endParaRPr sz="1700" dirty="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Спроєктувати архітектуру програмної системи</a:t>
            </a:r>
            <a:endParaRPr sz="1700" dirty="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A2018"/>
              </a:buClr>
              <a:buSzPts val="1700"/>
              <a:buFont typeface="Times New Roman"/>
              <a:buChar char="-"/>
            </a:pP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Реалізувати прототип на </a:t>
            </a:r>
            <a:r>
              <a:rPr lang="uk-UA" sz="1700" dirty="0" err="1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uk-UA" sz="1700" dirty="0">
                <a:solidFill>
                  <a:srgbClr val="2A2018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та провести тестування балансу</a:t>
            </a:r>
            <a:endParaRPr sz="1700" dirty="0">
              <a:solidFill>
                <a:srgbClr val="2A2018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SzPts val="2118"/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Вибір технологій розробки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8" name="Google Shape;98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– рушій 2D/3D-розробки;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Universal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Render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Pipeline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забезпечує прийнятну продуктивність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C# – основна мова програмування ігрової логіки,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подієвої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системи та фізики персонажа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Input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System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- система обробки вводу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для гнучкого керування рухом, стрибком і викликом цеглин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Cinemachine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- динамічна камера, що слідкує за персонажем та підлаштовується під сцену рівня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99" name="Google Shape;99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6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Архітектура створеного програмного забезпечення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6" name="Google Shape;106;p6"/>
          <p:cNvSpPr txBox="1">
            <a:spLocks noGrp="1"/>
          </p:cNvSpPr>
          <p:nvPr>
            <p:ph type="body" idx="1"/>
          </p:nvPr>
        </p:nvSpPr>
        <p:spPr>
          <a:xfrm>
            <a:off x="311700" y="1453899"/>
            <a:ext cx="8520600" cy="3152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Підхід:  компонентна архітектура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MonoBehaviour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) у поєднанні з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подієво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-орієнтованим ядром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Simulation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Event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для розв'язання залежностей між підсистемами.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69999" lvl="0" indent="-3733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Simulation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/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Event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—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Подієве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ядро: планування та виконання ігрових подій (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PlayerDeath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,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EnemyDeath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тощо)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69999" lvl="0" indent="-3733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KinematicObject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— Базовий клас фізики руху для гравця та ворогів (кінематичний Rigidbody2D)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69999" lvl="0" indent="-3733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PlayerController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— Введення гравця, машина станів стрибка, керування персонажем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69999" lvl="0" indent="-3733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BlockSpawner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/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FallingBlock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/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BlockPool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— Унікальна система магічних цеглин: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спавн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, фізика падіння, зважений вибір типу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69999" lvl="0" indent="-3733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EnemyController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/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PatrolPath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— Поведінка та маршрути патрулювання ворогів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69999" lvl="0" indent="-37338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MainMenuController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/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LevelSelectController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— Навігація меню, вибір рівня, перемикання сцен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lnSpc>
                <a:spcPct val="115000"/>
              </a:lnSpc>
              <a:spcBef>
                <a:spcPts val="1500"/>
              </a:spcBef>
              <a:spcAft>
                <a:spcPts val="1200"/>
              </a:spcAft>
              <a:buSzPct val="129032"/>
              <a:buNone/>
            </a:pPr>
            <a:endParaRPr dirty="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107" name="Google Shape;107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6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457200" lvl="0" indent="-342900">
              <a:lnSpc>
                <a:spcPct val="115000"/>
              </a:lnSpc>
              <a:buSzPct val="142857"/>
            </a:pPr>
            <a:r>
              <a:rPr lang="uk-UA" sz="3200" dirty="0">
                <a:latin typeface="Times New Roman"/>
                <a:ea typeface="Times New Roman"/>
                <a:cs typeface="Times New Roman"/>
                <a:sym typeface="Times New Roman"/>
              </a:rPr>
              <a:t>Етапи розробки</a:t>
            </a:r>
          </a:p>
        </p:txBody>
      </p:sp>
      <p:sp>
        <p:nvSpPr>
          <p:cNvPr id="114" name="Google Shape;114;p7"/>
          <p:cNvSpPr txBox="1">
            <a:spLocks noGrp="1"/>
          </p:cNvSpPr>
          <p:nvPr>
            <p:ph type="body" idx="1"/>
          </p:nvPr>
        </p:nvSpPr>
        <p:spPr>
          <a:xfrm>
            <a:off x="1494300" y="1069925"/>
            <a:ext cx="6155400" cy="384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18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Аналіз предметної галузі та жанрових аналогів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18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Формування вимог до геймплею та інтерфейсу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18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Проєктування архітектури (компонентна модель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18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Реалізація механік і логіки в середовищі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Unity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18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Мануальне тестування та балансування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1718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AutoNum type="arabicPeriod"/>
            </a:pP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Підготовка </a:t>
            </a:r>
            <a:r>
              <a:rPr lang="uk-UA" dirty="0" err="1">
                <a:latin typeface="Times New Roman"/>
                <a:ea typeface="Times New Roman"/>
                <a:cs typeface="Times New Roman"/>
                <a:sym typeface="Times New Roman"/>
              </a:rPr>
              <a:t>білда</a:t>
            </a:r>
            <a:r>
              <a:rPr lang="uk-UA" dirty="0">
                <a:latin typeface="Times New Roman"/>
                <a:ea typeface="Times New Roman"/>
                <a:cs typeface="Times New Roman"/>
                <a:sym typeface="Times New Roman"/>
              </a:rPr>
              <a:t> та впровадження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42857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5" name="Google Shape;115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7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"/>
          <p:cNvSpPr txBox="1">
            <a:spLocks noGrp="1"/>
          </p:cNvSpPr>
          <p:nvPr>
            <p:ph type="body" idx="1"/>
          </p:nvPr>
        </p:nvSpPr>
        <p:spPr>
          <a:xfrm>
            <a:off x="311700" y="978377"/>
            <a:ext cx="8520600" cy="3381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Механіка цеглин як ядро геймплею: бій, будівництво платформ, головоломки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Крива складності: ліс (навчальна) → підземелля → гори (фінальна)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Баланс ризик/нагорода: складніші вороги дають більше монет та досвіду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uk-UA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Підтримка коротких (5–15 хв), середніх (15–30 хв) і довгих (30+ хв) сесій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Google Shape;122;p8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Дизайн ігрового процесу та балансування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3" name="Google Shape;123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8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9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/>
              <a:t>Приклад реалізації</a:t>
            </a:r>
            <a:endParaRPr sz="3200"/>
          </a:p>
        </p:txBody>
      </p:sp>
      <p:pic>
        <p:nvPicPr>
          <p:cNvPr id="130" name="Google Shape;13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9"/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9"/>
          <p:cNvSpPr txBox="1"/>
          <p:nvPr/>
        </p:nvSpPr>
        <p:spPr>
          <a:xfrm>
            <a:off x="3563277" y="4481188"/>
            <a:ext cx="1931894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Головне меню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33" name="Google Shape;133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3663" y="830702"/>
            <a:ext cx="6096663" cy="34980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0"/>
          <p:cNvSpPr txBox="1"/>
          <p:nvPr/>
        </p:nvSpPr>
        <p:spPr>
          <a:xfrm>
            <a:off x="8570506" y="4606350"/>
            <a:ext cx="4917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10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/>
              <a:t>Приклад реалізації</a:t>
            </a:r>
            <a:endParaRPr sz="3200"/>
          </a:p>
        </p:txBody>
      </p:sp>
      <p:sp>
        <p:nvSpPr>
          <p:cNvPr id="141" name="Google Shape;141;p10"/>
          <p:cNvSpPr txBox="1"/>
          <p:nvPr/>
        </p:nvSpPr>
        <p:spPr>
          <a:xfrm>
            <a:off x="3563274" y="4514025"/>
            <a:ext cx="280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uk-UA" sz="2000">
                <a:latin typeface="Times New Roman"/>
                <a:ea typeface="Times New Roman"/>
                <a:cs typeface="Times New Roman"/>
                <a:sym typeface="Times New Roman"/>
              </a:rPr>
              <a:t>Проходження рівня</a:t>
            </a:r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42" name="Google Shape;142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3575" y="830702"/>
            <a:ext cx="6096109" cy="35309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1"/>
          <p:cNvSpPr txBox="1"/>
          <p:nvPr/>
        </p:nvSpPr>
        <p:spPr>
          <a:xfrm>
            <a:off x="8587605" y="4606350"/>
            <a:ext cx="474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/>
              <a:t>Геймплейна частина</a:t>
            </a:r>
            <a:endParaRPr sz="3200"/>
          </a:p>
        </p:txBody>
      </p:sp>
      <p:pic>
        <p:nvPicPr>
          <p:cNvPr id="150" name="Google Shape;150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3575" y="824975"/>
            <a:ext cx="6663100" cy="373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2"/>
          <p:cNvSpPr txBox="1">
            <a:spLocks noGrp="1"/>
          </p:cNvSpPr>
          <p:nvPr>
            <p:ph type="body" idx="1"/>
          </p:nvPr>
        </p:nvSpPr>
        <p:spPr>
          <a:xfrm>
            <a:off x="225300" y="719100"/>
            <a:ext cx="8099550" cy="411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Реалістичність та корисність результатів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Отримано працездатний прототип гри з оригінальною </a:t>
            </a:r>
            <a:r>
              <a:rPr lang="uk-UA" sz="1800" dirty="0" err="1">
                <a:latin typeface="Times New Roman"/>
                <a:ea typeface="Times New Roman"/>
                <a:cs typeface="Times New Roman"/>
                <a:sym typeface="Times New Roman"/>
              </a:rPr>
              <a:t>механікою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Підтверджено коректність ключових механік мануальним тестуванням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Сформовано </a:t>
            </a:r>
            <a:r>
              <a:rPr lang="uk-UA" sz="1800" dirty="0" err="1">
                <a:latin typeface="Times New Roman"/>
                <a:ea typeface="Times New Roman"/>
                <a:cs typeface="Times New Roman"/>
                <a:sym typeface="Times New Roman"/>
              </a:rPr>
              <a:t>білд</a:t>
            </a: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, придатний для запуску поза редактором (Windows)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Можливості використання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Архітектура та механіки можуть слугувати базою для інших 2D-ігор у жанрі </a:t>
            </a:r>
            <a:r>
              <a:rPr lang="uk-UA" sz="1800" dirty="0" err="1">
                <a:latin typeface="Times New Roman"/>
                <a:ea typeface="Times New Roman"/>
                <a:cs typeface="Times New Roman"/>
                <a:sym typeface="Times New Roman"/>
              </a:rPr>
              <a:t>платформер</a:t>
            </a:r>
            <a:r>
              <a:rPr lang="uk-UA" sz="1800">
                <a:latin typeface="Times New Roman"/>
                <a:ea typeface="Times New Roman"/>
                <a:cs typeface="Times New Roman"/>
                <a:sym typeface="Times New Roman"/>
              </a:rPr>
              <a:t> /</a:t>
            </a:r>
            <a:r>
              <a:rPr lang="uk-UA" sz="1800" dirty="0" err="1">
                <a:latin typeface="Times New Roman"/>
                <a:ea typeface="Times New Roman"/>
                <a:cs typeface="Times New Roman"/>
                <a:sym typeface="Times New Roman"/>
              </a:rPr>
              <a:t>roguelike</a:t>
            </a: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 / </a:t>
            </a:r>
            <a:r>
              <a:rPr lang="uk-UA" sz="1800" dirty="0" err="1">
                <a:latin typeface="Times New Roman"/>
                <a:ea typeface="Times New Roman"/>
                <a:cs typeface="Times New Roman"/>
                <a:sym typeface="Times New Roman"/>
              </a:rPr>
              <a:t>puzzle-action</a:t>
            </a: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Подальший розвиток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Нові рівні, типи ворогів та механіки (боси, нова зброя)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Хмарне збереження прогресу через </a:t>
            </a:r>
            <a:r>
              <a:rPr lang="uk-UA" sz="1800" dirty="0" err="1">
                <a:latin typeface="Times New Roman"/>
                <a:ea typeface="Times New Roman"/>
                <a:cs typeface="Times New Roman"/>
                <a:sym typeface="Times New Roman"/>
              </a:rPr>
              <a:t>OneDrive</a:t>
            </a: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 API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Times New Roman"/>
              <a:buChar char="-"/>
            </a:pP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9 типів ворогів з унікальними </a:t>
            </a:r>
            <a:r>
              <a:rPr lang="uk-UA" sz="1800" dirty="0" err="1">
                <a:latin typeface="Times New Roman"/>
                <a:ea typeface="Times New Roman"/>
                <a:cs typeface="Times New Roman"/>
                <a:sym typeface="Times New Roman"/>
              </a:rPr>
              <a:t>патернами</a:t>
            </a:r>
            <a:r>
              <a:rPr lang="uk-UA" sz="1800" dirty="0">
                <a:latin typeface="Times New Roman"/>
                <a:ea typeface="Times New Roman"/>
                <a:cs typeface="Times New Roman"/>
                <a:sym typeface="Times New Roman"/>
              </a:rPr>
              <a:t> поведінки</a:t>
            </a: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 indent="457200">
              <a:buSzPct val="100358"/>
              <a:buNone/>
            </a:pPr>
            <a:endParaRPr lang="en-US" sz="13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 indent="457200">
              <a:buSzPct val="100358"/>
              <a:buNone/>
            </a:pPr>
            <a:r>
              <a:rPr lang="uk-UA" sz="1300" dirty="0">
                <a:latin typeface="Times New Roman"/>
                <a:ea typeface="Times New Roman"/>
                <a:cs typeface="Times New Roman"/>
                <a:sym typeface="Times New Roman"/>
              </a:rPr>
              <a:t>Репозиторій проєкту:</a:t>
            </a:r>
            <a:r>
              <a:rPr lang="en-US" sz="13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uk-UA" sz="1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https://github.com/NureHertsevViacheslav/2026_B_PI_PZPI-22-4_Hertsev_V_A</a:t>
            </a:r>
            <a:endParaRPr sz="1300"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572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358"/>
              <a:buNone/>
            </a:pPr>
            <a:endParaRPr sz="18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6" name="Google Shape;156;p12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uk-UA" sz="3200">
                <a:latin typeface="Times New Roman"/>
                <a:ea typeface="Times New Roman"/>
                <a:cs typeface="Times New Roman"/>
                <a:sym typeface="Times New Roman"/>
              </a:rPr>
              <a:t>Підсумки </a:t>
            </a:r>
            <a:endParaRPr sz="32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7" name="Google Shape;157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2"/>
          <p:cNvSpPr txBox="1"/>
          <p:nvPr/>
        </p:nvSpPr>
        <p:spPr>
          <a:xfrm>
            <a:off x="8621779" y="4606350"/>
            <a:ext cx="440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-UA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Шаблон презентації кваліфікаційної роботи магістрів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669</Words>
  <Application>Microsoft Office PowerPoint</Application>
  <PresentationFormat>Экран (16:9)</PresentationFormat>
  <Paragraphs>105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Arial</vt:lpstr>
      <vt:lpstr>Economica</vt:lpstr>
      <vt:lpstr>Open Sans</vt:lpstr>
      <vt:lpstr>Times New Roman</vt:lpstr>
      <vt:lpstr>Шаблон презентації кваліфікаційної роботи магістрів</vt:lpstr>
      <vt:lpstr>Ігрове програмне забезпечення в жанрі 2D платформеру на рушії Unity. Дизайн та балансування ігрового процесу</vt:lpstr>
      <vt:lpstr>Мета роботи</vt:lpstr>
      <vt:lpstr>Аналіз проблеми (аналіз існуючих рішень) </vt:lpstr>
      <vt:lpstr>Постановка задачі та опис системи</vt:lpstr>
      <vt:lpstr>Вибір технологій розробки </vt:lpstr>
      <vt:lpstr>Архітектура створеного програмного забезпечення</vt:lpstr>
      <vt:lpstr>Етапи розробки</vt:lpstr>
      <vt:lpstr>Дизайн ігрового процесу та балансування</vt:lpstr>
      <vt:lpstr>Приклад реалізації</vt:lpstr>
      <vt:lpstr>Приклад реалізації</vt:lpstr>
      <vt:lpstr>Геймплейна частина</vt:lpstr>
      <vt:lpstr>Підсумки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В'ячеслав Герцев</dc:creator>
  <cp:lastModifiedBy>В'ячеслав Герцев</cp:lastModifiedBy>
  <cp:revision>1</cp:revision>
  <dcterms:created xsi:type="dcterms:W3CDTF">2025-06-19T11:30:12Z</dcterms:created>
  <dcterms:modified xsi:type="dcterms:W3CDTF">2026-07-09T14:28:37Z</dcterms:modified>
</cp:coreProperties>
</file>