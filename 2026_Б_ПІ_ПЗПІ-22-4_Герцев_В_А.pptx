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i7zes1n98bI0oa5uaAYcUk7/A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CE4FE-1029-4EE8-ACAF-2FA6E109E04A}" v="5" dt="2026-07-06T08:12:17.060"/>
  </p1510:revLst>
</p1510:revInfo>
</file>

<file path=ppt/tableStyles.xml><?xml version="1.0" encoding="utf-8"?>
<a:tblStyleLst xmlns:a="http://schemas.openxmlformats.org/drawingml/2006/main" def="{8AB87EE1-AA5C-4AD9-AB55-591B44C15F97}">
  <a:tblStyle styleId="{8AB87EE1-AA5C-4AD9-AB55-591B44C15F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0" d="100"/>
          <a:sy n="200" d="100"/>
        </p:scale>
        <p:origin x="65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'ячеслав Герцев" userId="25cf14d751791959" providerId="LiveId" clId="{E51DC668-10DB-45DA-B37A-8B5C11F6928A}"/>
    <pc:docChg chg="undo custSel modSld modMainMaster">
      <pc:chgData name="В'ячеслав Герцев" userId="25cf14d751791959" providerId="LiveId" clId="{E51DC668-10DB-45DA-B37A-8B5C11F6928A}" dt="2026-07-06T08:12:50.348" v="58" actId="27636"/>
      <pc:docMkLst>
        <pc:docMk/>
      </pc:docMkLst>
      <pc:sldChg chg="modSp mod">
        <pc:chgData name="В'ячеслав Герцев" userId="25cf14d751791959" providerId="LiveId" clId="{E51DC668-10DB-45DA-B37A-8B5C11F6928A}" dt="2026-06-27T08:58:03.260" v="0" actId="20577"/>
        <pc:sldMkLst>
          <pc:docMk/>
          <pc:sldMk cId="0" sldId="256"/>
        </pc:sldMkLst>
        <pc:spChg chg="mod">
          <ac:chgData name="В'ячеслав Герцев" userId="25cf14d751791959" providerId="LiveId" clId="{E51DC668-10DB-45DA-B37A-8B5C11F6928A}" dt="2026-06-27T08:58:03.260" v="0" actId="20577"/>
          <ac:spMkLst>
            <pc:docMk/>
            <pc:sldMk cId="0" sldId="256"/>
            <ac:spMk id="63" creationId="{00000000-0000-0000-0000-000000000000}"/>
          </ac:spMkLst>
        </pc:spChg>
      </pc:sldChg>
      <pc:sldChg chg="modSp mod">
        <pc:chgData name="В'ячеслав Герцев" userId="25cf14d751791959" providerId="LiveId" clId="{E51DC668-10DB-45DA-B37A-8B5C11F6928A}" dt="2026-07-03T18:19:52.646" v="6" actId="1076"/>
        <pc:sldMkLst>
          <pc:docMk/>
          <pc:sldMk cId="0" sldId="257"/>
        </pc:sldMkLst>
        <pc:spChg chg="mod">
          <ac:chgData name="В'ячеслав Герцев" userId="25cf14d751791959" providerId="LiveId" clId="{E51DC668-10DB-45DA-B37A-8B5C11F6928A}" dt="2026-07-03T18:19:52.646" v="6" actId="1076"/>
          <ac:spMkLst>
            <pc:docMk/>
            <pc:sldMk cId="0" sldId="257"/>
            <ac:spMk id="72" creationId="{00000000-0000-0000-0000-000000000000}"/>
          </ac:spMkLst>
        </pc:spChg>
      </pc:sldChg>
      <pc:sldChg chg="modSp mod">
        <pc:chgData name="В'ячеслав Герцев" userId="25cf14d751791959" providerId="LiveId" clId="{E51DC668-10DB-45DA-B37A-8B5C11F6928A}" dt="2026-07-03T18:41:01.316" v="12" actId="20577"/>
        <pc:sldMkLst>
          <pc:docMk/>
          <pc:sldMk cId="0" sldId="260"/>
        </pc:sldMkLst>
        <pc:spChg chg="mod">
          <ac:chgData name="В'ячеслав Герцев" userId="25cf14d751791959" providerId="LiveId" clId="{E51DC668-10DB-45DA-B37A-8B5C11F6928A}" dt="2026-07-03T18:41:01.316" v="12" actId="20577"/>
          <ac:spMkLst>
            <pc:docMk/>
            <pc:sldMk cId="0" sldId="260"/>
            <ac:spMk id="98" creationId="{00000000-0000-0000-0000-000000000000}"/>
          </ac:spMkLst>
        </pc:spChg>
      </pc:sldChg>
      <pc:sldChg chg="modSp mod">
        <pc:chgData name="В'ячеслав Герцев" userId="25cf14d751791959" providerId="LiveId" clId="{E51DC668-10DB-45DA-B37A-8B5C11F6928A}" dt="2026-07-03T17:30:59.757" v="5" actId="27636"/>
        <pc:sldMkLst>
          <pc:docMk/>
          <pc:sldMk cId="0" sldId="261"/>
        </pc:sldMkLst>
        <pc:spChg chg="mod">
          <ac:chgData name="В'ячеслав Герцев" userId="25cf14d751791959" providerId="LiveId" clId="{E51DC668-10DB-45DA-B37A-8B5C11F6928A}" dt="2026-07-03T17:30:59.757" v="5" actId="27636"/>
          <ac:spMkLst>
            <pc:docMk/>
            <pc:sldMk cId="0" sldId="261"/>
            <ac:spMk id="106" creationId="{00000000-0000-0000-0000-000000000000}"/>
          </ac:spMkLst>
        </pc:spChg>
      </pc:sldChg>
      <pc:sldChg chg="modSp mod">
        <pc:chgData name="В'ячеслав Герцев" userId="25cf14d751791959" providerId="LiveId" clId="{E51DC668-10DB-45DA-B37A-8B5C11F6928A}" dt="2026-07-03T18:46:25.406" v="21" actId="20577"/>
        <pc:sldMkLst>
          <pc:docMk/>
          <pc:sldMk cId="0" sldId="263"/>
        </pc:sldMkLst>
        <pc:spChg chg="mod">
          <ac:chgData name="В'ячеслав Герцев" userId="25cf14d751791959" providerId="LiveId" clId="{E51DC668-10DB-45DA-B37A-8B5C11F6928A}" dt="2026-07-03T18:46:25.406" v="21" actId="20577"/>
          <ac:spMkLst>
            <pc:docMk/>
            <pc:sldMk cId="0" sldId="263"/>
            <ac:spMk id="121" creationId="{00000000-0000-0000-0000-000000000000}"/>
          </ac:spMkLst>
        </pc:spChg>
      </pc:sldChg>
      <pc:sldChg chg="modSp mod">
        <pc:chgData name="В'ячеслав Герцев" userId="25cf14d751791959" providerId="LiveId" clId="{E51DC668-10DB-45DA-B37A-8B5C11F6928A}" dt="2026-07-06T08:12:50.348" v="58" actId="27636"/>
        <pc:sldMkLst>
          <pc:docMk/>
          <pc:sldMk cId="0" sldId="267"/>
        </pc:sldMkLst>
        <pc:spChg chg="mod">
          <ac:chgData name="В'ячеслав Герцев" userId="25cf14d751791959" providerId="LiveId" clId="{E51DC668-10DB-45DA-B37A-8B5C11F6928A}" dt="2026-07-06T08:12:50.348" v="58" actId="27636"/>
          <ac:spMkLst>
            <pc:docMk/>
            <pc:sldMk cId="0" sldId="267"/>
            <ac:spMk id="155" creationId="{00000000-0000-0000-0000-000000000000}"/>
          </ac:spMkLst>
        </pc:spChg>
      </pc:sldChg>
      <pc:sldMasterChg chg="addSp modSp mod modSldLayout">
        <pc:chgData name="В'ячеслав Герцев" userId="25cf14d751791959" providerId="LiveId" clId="{E51DC668-10DB-45DA-B37A-8B5C11F6928A}" dt="2026-07-04T19:48:50.868" v="44" actId="1582"/>
        <pc:sldMasterMkLst>
          <pc:docMk/>
          <pc:sldMasterMk cId="0" sldId="2147483648"/>
        </pc:sldMasterMkLst>
        <pc:spChg chg="add mod ord">
          <ac:chgData name="В'ячеслав Герцев" userId="25cf14d751791959" providerId="LiveId" clId="{E51DC668-10DB-45DA-B37A-8B5C11F6928A}" dt="2026-07-04T19:48:50.868" v="44" actId="1582"/>
          <ac:spMkLst>
            <pc:docMk/>
            <pc:sldMasterMk cId="0" sldId="2147483648"/>
            <ac:spMk id="2" creationId="{9B0D64F9-4C49-702B-3E33-D62DD13F4ADD}"/>
          </ac:spMkLst>
        </pc:spChg>
        <pc:sldLayoutChg chg="setBg">
          <pc:chgData name="В'ячеслав Герцев" userId="25cf14d751791959" providerId="LiveId" clId="{E51DC668-10DB-45DA-B37A-8B5C11F6928A}" dt="2026-07-04T19:48:21.015" v="40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14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2" name="Google Shape;22;p16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1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3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 dirty="0"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B0D64F9-4C49-702B-3E33-D62DD13F4AD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>
          <a:xfrm>
            <a:off x="2805449" y="821299"/>
            <a:ext cx="5944103" cy="908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2400" dirty="0">
                <a:latin typeface="Times New Roman"/>
                <a:ea typeface="Times New Roman"/>
                <a:cs typeface="Times New Roman"/>
                <a:sym typeface="Times New Roman"/>
              </a:rPr>
              <a:t>2D </a:t>
            </a:r>
            <a:r>
              <a:rPr lang="uk-UA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Roguelike-платформер</a:t>
            </a:r>
            <a:r>
              <a:rPr lang="uk-UA" sz="2400" dirty="0">
                <a:latin typeface="Times New Roman"/>
                <a:ea typeface="Times New Roman"/>
                <a:cs typeface="Times New Roman"/>
                <a:sym typeface="Times New Roman"/>
              </a:rPr>
              <a:t> на рушії </a:t>
            </a:r>
            <a:r>
              <a:rPr lang="uk-UA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2400" dirty="0">
                <a:latin typeface="Times New Roman"/>
                <a:ea typeface="Times New Roman"/>
                <a:cs typeface="Times New Roman"/>
                <a:sym typeface="Times New Roman"/>
              </a:rPr>
              <a:t>Дизайн та балансування ігрового процесу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"/>
          <p:cNvSpPr txBox="1">
            <a:spLocks noGrp="1"/>
          </p:cNvSpPr>
          <p:nvPr>
            <p:ph type="subTitle" idx="1"/>
          </p:nvPr>
        </p:nvSpPr>
        <p:spPr>
          <a:xfrm>
            <a:off x="1743471" y="2486417"/>
            <a:ext cx="4881447" cy="265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uk-UA" sz="2000" dirty="0"/>
              <a:t>Герцев В’ячеслав Андрійович, ПЗПІ-22-4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uk-UA" sz="2000" dirty="0"/>
              <a:t>Керівник: ст. викл каф. ПІ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uk-UA" sz="2000" dirty="0"/>
              <a:t>           </a:t>
            </a:r>
            <a:r>
              <a:rPr lang="uk-UA" sz="2000" dirty="0" err="1"/>
              <a:t>Саманцов</a:t>
            </a:r>
            <a:r>
              <a:rPr lang="uk-UA" sz="2000" dirty="0"/>
              <a:t> Олександр Олександрович</a:t>
            </a:r>
            <a:endParaRPr sz="2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sz="2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uk-UA" sz="2000" dirty="0"/>
              <a:t>2026</a:t>
            </a:r>
            <a:endParaRPr sz="2000" dirty="0"/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Мета роботи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2"/>
          <p:cNvSpPr txBox="1">
            <a:spLocks noGrp="1"/>
          </p:cNvSpPr>
          <p:nvPr>
            <p:ph type="body" idx="1"/>
          </p:nvPr>
        </p:nvSpPr>
        <p:spPr>
          <a:xfrm>
            <a:off x="311700" y="996450"/>
            <a:ext cx="8520600" cy="3150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Дослідження та практична реалізація процесу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геймдизайну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й балансування ігрового процесу для 2D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roguelike-платформеру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«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Brick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Prince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» на рушії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— від концепції до працездатного прототипу.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Гібридна механіка: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платформер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+ керування магічними цеглинами у стилі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тетроміно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Roguelike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-складова: процедурні рівні, вороги, висока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реграбельність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Гнучка, масштабована архітектура на основі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та C#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b="1" dirty="0">
                <a:latin typeface="Times New Roman"/>
                <a:ea typeface="Times New Roman"/>
                <a:cs typeface="Times New Roman"/>
                <a:sym typeface="Times New Roman"/>
              </a:rPr>
              <a:t>Чому це актуально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Roguelike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залишається одним з найпопулярніших жанрів завдяки </a:t>
            </a: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реграбельності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й динамічності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uk-UA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sz="1600" dirty="0">
                <a:latin typeface="Times New Roman"/>
                <a:ea typeface="Times New Roman"/>
                <a:cs typeface="Times New Roman"/>
                <a:sym typeface="Times New Roman"/>
              </a:rPr>
              <a:t> дозволяє малим командам швидко створювати якісний 2D-контент</a:t>
            </a:r>
            <a:endParaRPr sz="1600" dirty="0"/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Аналіз проблеми (аналіз існуючих рішень)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1538238" y="3567452"/>
            <a:ext cx="5571300" cy="14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rPr lang="uk-UA" sz="1200">
                <a:latin typeface="Times New Roman"/>
                <a:ea typeface="Times New Roman"/>
                <a:cs typeface="Times New Roman"/>
                <a:sym typeface="Times New Roman"/>
              </a:rPr>
              <a:t>Наш фокус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−"/>
            </a:pPr>
            <a:r>
              <a:rPr lang="uk-UA" sz="1200">
                <a:latin typeface="Times New Roman"/>
                <a:ea typeface="Times New Roman"/>
                <a:cs typeface="Times New Roman"/>
                <a:sym typeface="Times New Roman"/>
              </a:rPr>
              <a:t>Унікальна механіка фізичної маніпуляції цеглинами (відсутня у конкурентів)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−"/>
            </a:pPr>
            <a:r>
              <a:rPr lang="uk-UA" sz="1200">
                <a:latin typeface="Times New Roman"/>
                <a:ea typeface="Times New Roman"/>
                <a:cs typeface="Times New Roman"/>
                <a:sym typeface="Times New Roman"/>
              </a:rPr>
              <a:t>Баланс між бойовою системою та головоломками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−"/>
            </a:pPr>
            <a:r>
              <a:rPr lang="uk-UA" sz="1200">
                <a:latin typeface="Times New Roman"/>
                <a:ea typeface="Times New Roman"/>
                <a:cs typeface="Times New Roman"/>
                <a:sym typeface="Times New Roman"/>
              </a:rPr>
              <a:t>Підтримка коротких, середніх і довгих ігрових сесій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−"/>
            </a:pPr>
            <a:r>
              <a:rPr lang="uk-UA" sz="1200">
                <a:latin typeface="Times New Roman"/>
                <a:ea typeface="Times New Roman"/>
                <a:cs typeface="Times New Roman"/>
                <a:sym typeface="Times New Roman"/>
              </a:rPr>
              <a:t>Естетика dark fantasy середньовіччя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3" name="Google Shape;83;p3"/>
          <p:cNvGraphicFramePr/>
          <p:nvPr/>
        </p:nvGraphicFramePr>
        <p:xfrm>
          <a:off x="310599" y="778863"/>
          <a:ext cx="8026575" cy="2722603"/>
        </p:xfrm>
        <a:graphic>
          <a:graphicData uri="http://schemas.openxmlformats.org/drawingml/2006/table">
            <a:tbl>
              <a:tblPr>
                <a:noFill/>
                <a:tableStyleId>{8AB87EE1-AA5C-4AD9-AB55-591B44C15F97}</a:tableStyleId>
              </a:tblPr>
              <a:tblGrid>
                <a:gridCol w="267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Гра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Переваги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Обмеження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Dead Cells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Продуманий бойовий геймплей, процедурні рівні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Немає фізичної механіки блоків; лише бій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Celeste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Точна платформерна механіка, емоційний наратив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Відсутня система ворогів і рандомізації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Spelunky 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Класичний roguelike, складна фізика середовища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Висока хардкорність звужує аудиторію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Binding of Isaac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Візуальна ідентичність, культовий статус жанру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Складний UI, не призначений для новачків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Постановка задачі та опис системи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311700" y="750200"/>
            <a:ext cx="87507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-UA" sz="1700" b="1">
                <a:latin typeface="Times New Roman"/>
                <a:ea typeface="Times New Roman"/>
                <a:cs typeface="Times New Roman"/>
                <a:sym typeface="Times New Roman"/>
              </a:rPr>
              <a:t>Проблема:  </a:t>
            </a:r>
            <a:r>
              <a:rPr lang="uk-UA" sz="1700">
                <a:latin typeface="Times New Roman"/>
                <a:ea typeface="Times New Roman"/>
                <a:cs typeface="Times New Roman"/>
                <a:sym typeface="Times New Roman"/>
              </a:rPr>
              <a:t>більшість мобільних і десктопних roguelike-платформерів або перевантажені UI, або обмежуються типовою механікою «біг + стрибок + удар», без оригінальних просторових механік.</a:t>
            </a:r>
            <a:endParaRPr sz="1700"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 txBox="1">
            <a:spLocks noGrp="1"/>
          </p:cNvSpPr>
          <p:nvPr>
            <p:ph type="body" idx="1"/>
          </p:nvPr>
        </p:nvSpPr>
        <p:spPr>
          <a:xfrm>
            <a:off x="311700" y="1825400"/>
            <a:ext cx="8520600" cy="3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18"/>
              <a:buNone/>
            </a:pPr>
            <a:r>
              <a:rPr lang="uk-UA" sz="1700">
                <a:latin typeface="Times New Roman"/>
                <a:ea typeface="Times New Roman"/>
                <a:cs typeface="Times New Roman"/>
                <a:sym typeface="Times New Roman"/>
              </a:rPr>
              <a:t>Задача: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018"/>
              </a:buClr>
              <a:buSzPts val="1700"/>
              <a:buFont typeface="Times New Roman"/>
              <a:buChar char="-"/>
            </a:pPr>
            <a:r>
              <a:rPr lang="uk-UA" sz="1700">
                <a:solidFill>
                  <a:srgbClr val="2A20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Проаналізувати жанр roguelike-платформерів та ключові аналоги</a:t>
            </a:r>
            <a:endParaRPr sz="1700">
              <a:solidFill>
                <a:srgbClr val="2A201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018"/>
              </a:buClr>
              <a:buSzPts val="1700"/>
              <a:buFont typeface="Times New Roman"/>
              <a:buChar char="-"/>
            </a:pPr>
            <a:r>
              <a:rPr lang="uk-UA" sz="1700">
                <a:solidFill>
                  <a:srgbClr val="2A20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Розробити документ ігрового дизайну (GDD)</a:t>
            </a:r>
            <a:endParaRPr sz="1700">
              <a:solidFill>
                <a:srgbClr val="2A201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018"/>
              </a:buClr>
              <a:buSzPts val="1700"/>
              <a:buFont typeface="Times New Roman"/>
              <a:buChar char="-"/>
            </a:pPr>
            <a:r>
              <a:rPr lang="uk-UA" sz="1700">
                <a:solidFill>
                  <a:srgbClr val="2A20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Спроєктувати механіку магічних цеглин та її інтеграцію з іншими системами</a:t>
            </a:r>
            <a:endParaRPr sz="1700">
              <a:solidFill>
                <a:srgbClr val="2A201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018"/>
              </a:buClr>
              <a:buSzPts val="1700"/>
              <a:buFont typeface="Times New Roman"/>
              <a:buChar char="-"/>
            </a:pPr>
            <a:r>
              <a:rPr lang="uk-UA" sz="1700">
                <a:solidFill>
                  <a:srgbClr val="2A20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Розробити систему ворогів з різними поведінковими патернами</a:t>
            </a:r>
            <a:endParaRPr sz="1700">
              <a:solidFill>
                <a:srgbClr val="2A201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018"/>
              </a:buClr>
              <a:buSzPts val="1700"/>
              <a:buFont typeface="Times New Roman"/>
              <a:buChar char="-"/>
            </a:pPr>
            <a:r>
              <a:rPr lang="uk-UA" sz="1700">
                <a:solidFill>
                  <a:srgbClr val="2A20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Визначити принципи балансування складності</a:t>
            </a:r>
            <a:endParaRPr sz="1700">
              <a:solidFill>
                <a:srgbClr val="2A201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018"/>
              </a:buClr>
              <a:buSzPts val="1700"/>
              <a:buFont typeface="Times New Roman"/>
              <a:buChar char="-"/>
            </a:pPr>
            <a:r>
              <a:rPr lang="uk-UA" sz="1700">
                <a:solidFill>
                  <a:srgbClr val="2A20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Спроєктувати архітектуру програмної системи</a:t>
            </a:r>
            <a:endParaRPr sz="1700">
              <a:solidFill>
                <a:srgbClr val="2A201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018"/>
              </a:buClr>
              <a:buSzPts val="1700"/>
              <a:buFont typeface="Times New Roman"/>
              <a:buChar char="-"/>
            </a:pPr>
            <a:r>
              <a:rPr lang="uk-UA" sz="1700">
                <a:solidFill>
                  <a:srgbClr val="2A20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Реалізувати прототип на Unity та провести тестування балансу</a:t>
            </a:r>
            <a:endParaRPr sz="1700">
              <a:solidFill>
                <a:srgbClr val="2A201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118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Вибір технологій розробки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– рушій 2D/3D-розробки;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Universal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Render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Pipeline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забезпечує прийнятну продуктивність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C# – основна мова програмування ігрової логіки,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подієвої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системи та фізики персонажа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- система обробки вводу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для гнучкого керування рухом, стрибком і викликом цеглин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Cinemachine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- динамічна камера, що слідкує за персонажем та підлаштовується під сцену рівня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Архітектура створеного програмного забезпечення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6"/>
          <p:cNvSpPr txBox="1">
            <a:spLocks noGrp="1"/>
          </p:cNvSpPr>
          <p:nvPr>
            <p:ph type="body" idx="1"/>
          </p:nvPr>
        </p:nvSpPr>
        <p:spPr>
          <a:xfrm>
            <a:off x="311700" y="1453899"/>
            <a:ext cx="8520600" cy="3152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Підхід:  компонентна архітектура Unity (MonoBehaviour) у поєднанні з подієво-орієнтованим ядром Simulation/Event для розв'язання залежностей між підсистемами.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999" lvl="0" indent="-3733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Simulation / Event — Подієве ядро: планування та виконання ігрових подій (PlayerDeath, EnemyDeath тощо)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999" lvl="0" indent="-3733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KinematicObject — Базовий клас фізики руху для гравця та ворогів (кінематичний Rigidbody2D)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999" lvl="0" indent="-3733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PlayerController — Введення гравця, машина станів стрибка, керування персонажем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999" lvl="0" indent="-3733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BlockSpawner / FallingBlock / BlockPool — Унікальна система магічних цеглин: спавн, фізика падіння, зважений вибір типу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999" lvl="0" indent="-3733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EnemyController / PatrolPath — Поведінка та маршрути патрулювання ворогів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999" lvl="0" indent="-3733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MainMenuController / LevelSelectController — Навігація меню, вибір рівня, перемикання сцен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ct val="129032"/>
              <a:buNone/>
            </a:pP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Опис програмного забезпечення, що було використано у дослідженні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7"/>
          <p:cNvSpPr txBox="1">
            <a:spLocks noGrp="1"/>
          </p:cNvSpPr>
          <p:nvPr>
            <p:ph type="body" idx="1"/>
          </p:nvPr>
        </p:nvSpPr>
        <p:spPr>
          <a:xfrm>
            <a:off x="1494300" y="1069925"/>
            <a:ext cx="6155400" cy="3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Етапи розробки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Аналіз предметної галузі та жанрових аналогів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Формування вимог до геймплею та інтерфейсу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Проєктування архітектури (компонентна модель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Реалізація механік і логіки в середовищі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Мануальне тестування та балансування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Підготовка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білда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та впровадження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Використане програмне забезпечення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6000.2 (URP) — редактор та рушій гри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Visual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Studio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— середовище написання C#-коду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— обробка введення гравця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— контроль версій проєкту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Мови та формати даних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C# — основна мова реалізації ігрової логіки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uk-UA" dirty="0" err="1">
                <a:latin typeface="Times New Roman"/>
                <a:ea typeface="Times New Roman"/>
                <a:cs typeface="Times New Roman"/>
                <a:sym typeface="Times New Roman"/>
              </a:rPr>
              <a:t>ScriptableObject</a:t>
            </a: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 — конфігурація типів цеглин і рівнів через дані, без зміни коду</a:t>
            </a:r>
            <a:endParaRPr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>
            <a:spLocks noGrp="1"/>
          </p:cNvSpPr>
          <p:nvPr>
            <p:ph type="body" idx="1"/>
          </p:nvPr>
        </p:nvSpPr>
        <p:spPr>
          <a:xfrm>
            <a:off x="311700" y="978377"/>
            <a:ext cx="8520600" cy="338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Механіка цеглин як ядро геймплею: бій, будівництво платформ, головоломки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Крива складності: ліс (навчальна) → підземелля → гори (фінальна)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ризик/нагорода: складніші вороги дають більше монет та досвіду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Підтримка коротких (5–15 хв), середніх (15–30 хв) і довгих (30+ хв) сесій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8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Дизайн ігрового процесу та балансування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Приклад реалізації</a:t>
            </a:r>
            <a:endParaRPr sz="3200"/>
          </a:p>
        </p:txBody>
      </p:sp>
      <p:pic>
        <p:nvPicPr>
          <p:cNvPr id="130" name="Google Shape;13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3563277" y="4481188"/>
            <a:ext cx="19318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Головне меню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663" y="830702"/>
            <a:ext cx="6096663" cy="349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 txBox="1"/>
          <p:nvPr/>
        </p:nvSpPr>
        <p:spPr>
          <a:xfrm>
            <a:off x="8570506" y="4606350"/>
            <a:ext cx="49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Приклад реалізації</a:t>
            </a:r>
            <a:endParaRPr sz="3200"/>
          </a:p>
        </p:txBody>
      </p:sp>
      <p:sp>
        <p:nvSpPr>
          <p:cNvPr id="141" name="Google Shape;141;p10"/>
          <p:cNvSpPr txBox="1"/>
          <p:nvPr/>
        </p:nvSpPr>
        <p:spPr>
          <a:xfrm>
            <a:off x="3563274" y="4514025"/>
            <a:ext cx="28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>
                <a:latin typeface="Times New Roman"/>
                <a:ea typeface="Times New Roman"/>
                <a:cs typeface="Times New Roman"/>
                <a:sym typeface="Times New Roman"/>
              </a:rPr>
              <a:t>Проходження рівня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3575" y="830702"/>
            <a:ext cx="6096109" cy="353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/>
          <p:nvPr/>
        </p:nvSpPr>
        <p:spPr>
          <a:xfrm>
            <a:off x="8587605" y="4606350"/>
            <a:ext cx="47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Геймплейна частина</a:t>
            </a:r>
            <a:endParaRPr sz="3200"/>
          </a:p>
        </p:txBody>
      </p:sp>
      <p:pic>
        <p:nvPicPr>
          <p:cNvPr id="150" name="Google Shape;15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3575" y="824975"/>
            <a:ext cx="6663100" cy="373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body" idx="1"/>
          </p:nvPr>
        </p:nvSpPr>
        <p:spPr>
          <a:xfrm>
            <a:off x="225300" y="719100"/>
            <a:ext cx="8099550" cy="41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Реалістичність та корисність результатів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Отримано працездатний прототип гри з оригінальною </a:t>
            </a:r>
            <a:r>
              <a:rPr lang="uk-UA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механікою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Підтверджено коректність ключових механік мануальним тестуванням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Сформовано </a:t>
            </a:r>
            <a:r>
              <a:rPr lang="uk-UA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білд</a:t>
            </a: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, придатний для запуску поза редактором (Windows)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Можливості використання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Архітектура та механіки можуть слугувати базою для інших 2D-ігор у жанрі </a:t>
            </a:r>
            <a:r>
              <a:rPr lang="uk-UA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roguelike</a:t>
            </a: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lang="uk-UA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puzzle-action</a:t>
            </a: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Подальший розвиток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Нові рівні, типи ворогів та механіки (боси, нова зброя)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Хмарне збереження прогресу через </a:t>
            </a:r>
            <a:r>
              <a:rPr lang="uk-UA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OneDrive</a:t>
            </a: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 API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9 типів ворогів з унікальними </a:t>
            </a:r>
            <a:r>
              <a:rPr lang="uk-UA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патернами</a:t>
            </a:r>
            <a:r>
              <a:rPr lang="uk-UA" sz="1800" dirty="0">
                <a:latin typeface="Times New Roman"/>
                <a:ea typeface="Times New Roman"/>
                <a:cs typeface="Times New Roman"/>
                <a:sym typeface="Times New Roman"/>
              </a:rPr>
              <a:t> поведінки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457200">
              <a:buSzPct val="100358"/>
              <a:buNone/>
            </a:pPr>
            <a:endParaRPr lang="en-US"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457200">
              <a:buSzPct val="100358"/>
              <a:buNone/>
            </a:pPr>
            <a:r>
              <a:rPr lang="uk-UA" sz="1300" dirty="0">
                <a:latin typeface="Times New Roman"/>
                <a:ea typeface="Times New Roman"/>
                <a:cs typeface="Times New Roman"/>
                <a:sym typeface="Times New Roman"/>
              </a:rPr>
              <a:t>Репозиторій проєкту:</a:t>
            </a:r>
            <a:r>
              <a:rPr lang="en-US" sz="13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https://github.com/NureHertsevViacheslav/2026_B_PI_PZPI-22-4_Hertsev_V_A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2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Підсумки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>
            <a:off x="8621779" y="4606350"/>
            <a:ext cx="4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740</Words>
  <Application>Microsoft Office PowerPoint</Application>
  <PresentationFormat>Экран (16:9)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Economica</vt:lpstr>
      <vt:lpstr>Open Sans</vt:lpstr>
      <vt:lpstr>Times New Roman</vt:lpstr>
      <vt:lpstr>Шаблон презентації кваліфікаційної роботи магістрів</vt:lpstr>
      <vt:lpstr>2D Roguelike-платформер на рушії Unity. Дизайн та балансування ігрового процесу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створеного програмного забезпечення</vt:lpstr>
      <vt:lpstr>Опис програмного забезпечення, що було використано у дослідженні</vt:lpstr>
      <vt:lpstr>Дизайн ігрового процесу та балансування</vt:lpstr>
      <vt:lpstr>Приклад реалізації</vt:lpstr>
      <vt:lpstr>Приклад реалізації</vt:lpstr>
      <vt:lpstr>Геймплейна частина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В'ячеслав Герцев</dc:creator>
  <cp:lastModifiedBy>В'ячеслав Герцев</cp:lastModifiedBy>
  <cp:revision>1</cp:revision>
  <dcterms:created xsi:type="dcterms:W3CDTF">2025-06-19T11:30:12Z</dcterms:created>
  <dcterms:modified xsi:type="dcterms:W3CDTF">2026-07-06T08:12:53Z</dcterms:modified>
</cp:coreProperties>
</file>